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3"/>
  </p:sldMasterIdLst>
  <p:notesMasterIdLst>
    <p:notesMasterId r:id="rId36"/>
  </p:notesMasterIdLst>
  <p:handoutMasterIdLst>
    <p:handoutMasterId r:id="rId37"/>
  </p:handoutMasterIdLst>
  <p:sldIdLst>
    <p:sldId id="256" r:id="rId4"/>
    <p:sldId id="616" r:id="rId5"/>
    <p:sldId id="589" r:id="rId6"/>
    <p:sldId id="590" r:id="rId7"/>
    <p:sldId id="522" r:id="rId8"/>
    <p:sldId id="260" r:id="rId9"/>
    <p:sldId id="492" r:id="rId10"/>
    <p:sldId id="592" r:id="rId11"/>
    <p:sldId id="493" r:id="rId12"/>
    <p:sldId id="494" r:id="rId13"/>
    <p:sldId id="593" r:id="rId14"/>
    <p:sldId id="495" r:id="rId15"/>
    <p:sldId id="524" r:id="rId16"/>
    <p:sldId id="496" r:id="rId17"/>
    <p:sldId id="594" r:id="rId18"/>
    <p:sldId id="497" r:id="rId19"/>
    <p:sldId id="595" r:id="rId20"/>
    <p:sldId id="540" r:id="rId21"/>
    <p:sldId id="262" r:id="rId22"/>
    <p:sldId id="498" r:id="rId23"/>
    <p:sldId id="500" r:id="rId24"/>
    <p:sldId id="546" r:id="rId25"/>
    <p:sldId id="501" r:id="rId26"/>
    <p:sldId id="502" r:id="rId27"/>
    <p:sldId id="503" r:id="rId28"/>
    <p:sldId id="599" r:id="rId29"/>
    <p:sldId id="634" r:id="rId30"/>
    <p:sldId id="263" r:id="rId31"/>
    <p:sldId id="505" r:id="rId32"/>
    <p:sldId id="506" r:id="rId33"/>
    <p:sldId id="264" r:id="rId34"/>
    <p:sldId id="536" r:id="rId3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CCFF"/>
    <a:srgbClr val="FFFF00"/>
    <a:srgbClr val="DDDDDD"/>
    <a:srgbClr val="C0C0C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49" autoAdjust="0"/>
    <p:restoredTop sz="94660"/>
  </p:normalViewPr>
  <p:slideViewPr>
    <p:cSldViewPr>
      <p:cViewPr varScale="1">
        <p:scale>
          <a:sx n="63" d="100"/>
          <a:sy n="63" d="100"/>
        </p:scale>
        <p:origin x="139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viewProps" Target="view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FB9016-572D-76E6-595A-BE3074D29C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51935-D6FE-4F9D-4D2D-B1FD2A7B4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67936DC-01BE-4997-9DE7-C399872460C5}" type="datetimeFigureOut">
              <a:rPr lang="en-US"/>
              <a:pPr>
                <a:defRPr/>
              </a:pPr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A0E532-1C9C-3D71-87FB-2DE40A9A5A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96388-D730-5583-109A-FF73773797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A2EAE45-1181-44C7-92E8-23761F4B7B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A99DED-9B6B-0828-28B6-B566227D8F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F8DA57-F5A4-327E-61CA-804FC6DB1ED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2DDCA60-F8A9-498B-A602-FDD338974311}" type="datetimeFigureOut">
              <a:rPr lang="en-US"/>
              <a:pPr>
                <a:defRPr/>
              </a:pPr>
              <a:t>1/22/2026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9318934-E1A2-7817-8E1F-E73CD0647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E66148-FFD4-59EB-4F17-9578594C7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0250" y="4560888"/>
            <a:ext cx="5854700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562E4-826E-C9E5-0FD2-28D7F6742C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DB6D1-CDE7-F32D-8FDA-C67D4436E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5D8CBB7-FDC6-4AFB-8EFD-764CE36B91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Unbenannt-2">
            <a:extLst>
              <a:ext uri="{FF2B5EF4-FFF2-40B4-BE49-F238E27FC236}">
                <a16:creationId xmlns:a16="http://schemas.microsoft.com/office/drawing/2014/main" id="{A1BAC5E5-A0A1-BDD3-1135-6ADB0FEA1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713" y="2887663"/>
            <a:ext cx="1381125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3" descr="PP small">
            <a:extLst>
              <a:ext uri="{FF2B5EF4-FFF2-40B4-BE49-F238E27FC236}">
                <a16:creationId xmlns:a16="http://schemas.microsoft.com/office/drawing/2014/main" id="{8D75D523-0007-93C2-5849-E276CA327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2"/>
          <a:stretch>
            <a:fillRect/>
          </a:stretch>
        </p:blipFill>
        <p:spPr bwMode="auto">
          <a:xfrm>
            <a:off x="5516563" y="6005513"/>
            <a:ext cx="3225800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61109053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FFE041-EB5D-E9B9-529C-265CB9B3B9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422596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045DAE-9E36-FCCB-8CED-482B95DE16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479440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7AD547-7012-CBAE-8C85-C96213C9705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44856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D23CB26-1E5D-09B3-405B-21A6F40982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01053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3BD840C-210F-3277-BF8A-83187C7D348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73007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3FA17B6-DB32-D42F-0162-7B824A8A03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81433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EFABD48-C960-1C79-4865-795A59CDDF2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259169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14FD2E-68F1-33CB-B5F2-865D02A2497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86666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C138E43-0C83-5DCB-9936-489863629FC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27854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1730AEC-8B99-599E-6C0C-E54D91F528E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51271"/>
      </p:ext>
    </p:extLst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>
            <a:normAutofit/>
          </a:bodyPr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006F1-2FA1-44FB-F619-73AE46A5AA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/>
              <a:t>01-Sept-2010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3BA67-4672-9E07-4499-3FAB31E0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C6640-DDD9-AB3C-75BA-FB8657B8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2789B7A-9EF6-4838-9EFD-21239E8BE6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3539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3B529A5-A983-403A-62F3-0D0A5B861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5A9FA66-4EB3-6531-2A3F-90A8D4E8E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879600"/>
            <a:ext cx="8524875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44485" name="Rectangle 5">
            <a:extLst>
              <a:ext uri="{FF2B5EF4-FFF2-40B4-BE49-F238E27FC236}">
                <a16:creationId xmlns:a16="http://schemas.microsoft.com/office/drawing/2014/main" id="{3E3C2425-A52D-96EA-7063-458C26E1D3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6225" y="6408738"/>
            <a:ext cx="276225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2"/>
                </a:solidFill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29" name="Picture 17" descr="PP small">
            <a:extLst>
              <a:ext uri="{FF2B5EF4-FFF2-40B4-BE49-F238E27FC236}">
                <a16:creationId xmlns:a16="http://schemas.microsoft.com/office/drawing/2014/main" id="{FCD56166-2659-5955-EF1F-6BA04BED0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532"/>
          <a:stretch>
            <a:fillRect/>
          </a:stretch>
        </p:blipFill>
        <p:spPr bwMode="auto">
          <a:xfrm>
            <a:off x="6361113" y="6350000"/>
            <a:ext cx="2463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469" r:id="rId1"/>
    <p:sldLayoutId id="2147484459" r:id="rId2"/>
    <p:sldLayoutId id="2147484460" r:id="rId3"/>
    <p:sldLayoutId id="2147484461" r:id="rId4"/>
    <p:sldLayoutId id="2147484462" r:id="rId5"/>
    <p:sldLayoutId id="2147484463" r:id="rId6"/>
    <p:sldLayoutId id="2147484464" r:id="rId7"/>
    <p:sldLayoutId id="2147484465" r:id="rId8"/>
    <p:sldLayoutId id="2147484466" r:id="rId9"/>
    <p:sldLayoutId id="2147484467" r:id="rId10"/>
    <p:sldLayoutId id="2147484468" r:id="rId11"/>
    <p:sldLayoutId id="2147484470" r:id="rId12"/>
  </p:sldLayoutIdLst>
  <p:transition spd="med">
    <p:wipe dir="r"/>
  </p:transition>
  <p:hf hdr="0" ftr="0" dt="0"/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5pPr>
      <a:lvl6pPr marL="4572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eaLnBrk="1" fontAlgn="base" hangingPunct="1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81000" indent="-18891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800">
          <a:solidFill>
            <a:schemeClr val="tx1"/>
          </a:solidFill>
          <a:latin typeface="+mn-lt"/>
        </a:defRPr>
      </a:lvl2pPr>
      <a:lvl3pPr marL="561975" indent="-17938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400">
          <a:solidFill>
            <a:schemeClr val="tx1"/>
          </a:solidFill>
          <a:latin typeface="+mn-lt"/>
        </a:defRPr>
      </a:lvl3pPr>
      <a:lvl4pPr marL="752475" indent="-18891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Char char="-"/>
        <a:defRPr sz="2000">
          <a:solidFill>
            <a:schemeClr val="tx1"/>
          </a:solidFill>
          <a:latin typeface="+mn-lt"/>
        </a:defRPr>
      </a:lvl4pPr>
      <a:lvl5pPr marL="962025" indent="-207963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14192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eaLnBrk="1" fontAlgn="base" hangingPunct="1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AD13182-2548-626A-E6EA-E5AA3D2C01EE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09600" y="1676400"/>
            <a:ext cx="7772400" cy="1295400"/>
          </a:xfrm>
        </p:spPr>
        <p:txBody>
          <a:bodyPr/>
          <a:lstStyle/>
          <a:p>
            <a:pPr algn="ctr" eaLnBrk="1" hangingPunct="1"/>
            <a:r>
              <a:rPr lang="en-US" altLang="en-US" sz="4000"/>
              <a:t>WEEK3- MULTITHREADED PROGRAMMING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93F23CF-D97C-B656-E251-C394633CA72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962400"/>
            <a:ext cx="6400800" cy="2667000"/>
          </a:xfrm>
        </p:spPr>
        <p:txBody>
          <a:bodyPr/>
          <a:lstStyle/>
          <a:p>
            <a:pPr eaLnBrk="1" hangingPunct="1"/>
            <a:endParaRPr lang="en-US" altLang="en-US"/>
          </a:p>
          <a:p>
            <a:pPr eaLnBrk="1" hangingPunct="1"/>
            <a:endParaRPr lang="en-US" altLang="en-US" sz="2400"/>
          </a:p>
        </p:txBody>
      </p:sp>
      <p:sp>
        <p:nvSpPr>
          <p:cNvPr id="6148" name="Slide Number Placeholder 4">
            <a:extLst>
              <a:ext uri="{FF2B5EF4-FFF2-40B4-BE49-F238E27FC236}">
                <a16:creationId xmlns:a16="http://schemas.microsoft.com/office/drawing/2014/main" id="{5C1A057A-6320-93DA-670A-BDC7554CA7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DAF92B9-E8AE-4418-9C1A-27456501422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8554788-56E9-69E9-D839-5F9E87D7B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Multithreaded Programming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F4983BCA-D547-4C45-FA3B-F0B685C27F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2100" y="1676400"/>
            <a:ext cx="8534400" cy="3505200"/>
          </a:xfrm>
        </p:spPr>
        <p:txBody>
          <a:bodyPr/>
          <a:lstStyle/>
          <a:p>
            <a:pPr eaLnBrk="1" hangingPunct="1"/>
            <a:r>
              <a:rPr lang="en-US" altLang="en-US" sz="1800">
                <a:solidFill>
                  <a:srgbClr val="FF0000"/>
                </a:solidFill>
              </a:rPr>
              <a:t>A multithreaded program contains two or more parts that can run concurrently.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Each part of a multithreaded program is called a thread.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Each thread defines a separate path of execution.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Java provides built in support for multithreaded programming.</a:t>
            </a:r>
          </a:p>
          <a:p>
            <a:pPr eaLnBrk="1" hangingPunct="1"/>
            <a:endParaRPr lang="en-US" altLang="en-US" sz="1800"/>
          </a:p>
          <a:p>
            <a:pPr eaLnBrk="1" hangingPunct="1"/>
            <a:r>
              <a:rPr lang="en-US" altLang="en-US" sz="1800"/>
              <a:t>Multithreading is a specialized form of multitasking.</a:t>
            </a:r>
          </a:p>
          <a:p>
            <a:pPr eaLnBrk="1" hangingPunct="1"/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7172" name="Slide Number Placeholder 4">
            <a:extLst>
              <a:ext uri="{FF2B5EF4-FFF2-40B4-BE49-F238E27FC236}">
                <a16:creationId xmlns:a16="http://schemas.microsoft.com/office/drawing/2014/main" id="{CD5A97C1-263A-7D99-74B9-7A5A71ADCA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D28E400-DF51-443E-BD9F-517F558BC143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9389DBC7-2522-7DC4-E53C-702BE2C5BF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>
            <a:extLst>
              <a:ext uri="{FF2B5EF4-FFF2-40B4-BE49-F238E27FC236}">
                <a16:creationId xmlns:a16="http://schemas.microsoft.com/office/drawing/2014/main" id="{9B3EAA1C-8F64-2623-385D-BE2E6D93A9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610600" cy="2133600"/>
          </a:xfrm>
        </p:spPr>
        <p:txBody>
          <a:bodyPr/>
          <a:lstStyle/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The two types of multitasking are</a:t>
            </a:r>
          </a:p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           1. Process-based</a:t>
            </a:r>
          </a:p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           2. Thread based</a:t>
            </a:r>
          </a:p>
          <a:p>
            <a:pPr algn="just" eaLnBrk="1" hangingPunct="1">
              <a:buFontTx/>
              <a:buNone/>
            </a:pPr>
            <a:endParaRPr lang="en-US" altLang="en-US" sz="1600"/>
          </a:p>
          <a:p>
            <a:pPr algn="just" eaLnBrk="1" hangingPunct="1">
              <a:buFontTx/>
              <a:buNone/>
            </a:pPr>
            <a:endParaRPr lang="en-US" altLang="en-US" sz="1600"/>
          </a:p>
          <a:p>
            <a:pPr algn="just" eaLnBrk="1" hangingPunct="1">
              <a:buFontTx/>
              <a:buNone/>
            </a:pPr>
            <a:r>
              <a:rPr lang="en-US" altLang="en-US" sz="1600" b="1"/>
              <a:t>Process-based multitasking : </a:t>
            </a:r>
          </a:p>
          <a:p>
            <a:pPr algn="just" eaLnBrk="1" hangingPunct="1"/>
            <a:r>
              <a:rPr lang="en-US" altLang="en-US" sz="1600"/>
              <a:t>allows  computer to run two or   more  programs concurrently.</a:t>
            </a:r>
          </a:p>
          <a:p>
            <a:pPr algn="just" eaLnBrk="1" hangingPunct="1"/>
            <a:r>
              <a:rPr lang="en-US" altLang="en-US" sz="1600" b="1"/>
              <a:t>For ex:</a:t>
            </a:r>
            <a:r>
              <a:rPr lang="en-US" altLang="en-US" sz="1600"/>
              <a:t> run the Java compiler at the same time using a   text editor.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8195" name="Slide Number Placeholder 4">
            <a:extLst>
              <a:ext uri="{FF2B5EF4-FFF2-40B4-BE49-F238E27FC236}">
                <a16:creationId xmlns:a16="http://schemas.microsoft.com/office/drawing/2014/main" id="{1247827B-00B7-C1B3-88CD-951A8A1F4DD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867B3BA-728A-438C-B754-9A115A0576FA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12714B8-A10F-0F73-1AFB-66EDF94B406F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EBF3876-F013-B951-A180-EEA4E90A0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886200"/>
            <a:ext cx="8534400" cy="1482725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en-US" sz="1600" b="1" kern="0" dirty="0"/>
              <a:t>Thread based multitasking:</a:t>
            </a:r>
            <a:endParaRPr lang="en-US" altLang="en-US" i="1" kern="0" dirty="0"/>
          </a:p>
          <a:p>
            <a:pPr eaLnBrk="1" hangingPunct="1">
              <a:defRPr/>
            </a:pPr>
            <a:r>
              <a:rPr lang="en-US" altLang="en-US" sz="1600" kern="0" dirty="0"/>
              <a:t>Thread is the smallest unit of dispatchable code.</a:t>
            </a:r>
          </a:p>
          <a:p>
            <a:pPr eaLnBrk="1" hangingPunct="1">
              <a:defRPr/>
            </a:pPr>
            <a:r>
              <a:rPr lang="en-US" altLang="en-US" sz="1600" kern="0" dirty="0">
                <a:solidFill>
                  <a:srgbClr val="FF0000"/>
                </a:solidFill>
              </a:rPr>
              <a:t>A single program can perform two or more tasks simultaneously.</a:t>
            </a:r>
            <a:endParaRPr lang="en-US" altLang="en-US" sz="1600" kern="0" dirty="0"/>
          </a:p>
          <a:p>
            <a:pPr eaLnBrk="1" hangingPunct="1">
              <a:defRPr/>
            </a:pPr>
            <a:r>
              <a:rPr lang="en-US" altLang="en-US" sz="1600" b="1" kern="0" dirty="0"/>
              <a:t>Ex:  </a:t>
            </a:r>
            <a:r>
              <a:rPr lang="en-US" altLang="en-US" sz="1600" kern="0" dirty="0"/>
              <a:t>a text editor can format text at the same time that is printing.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>
            <a:extLst>
              <a:ext uri="{FF2B5EF4-FFF2-40B4-BE49-F238E27FC236}">
                <a16:creationId xmlns:a16="http://schemas.microsoft.com/office/drawing/2014/main" id="{2E2DBA38-FA47-77B1-6BAB-432114282D4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16D2AAC-870C-4D20-B582-34C49EEFE981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4EF1C0B1-FAE2-6B65-D270-5F4CAD21F2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C2EDFF-513E-312D-C41F-51E546B3AADD}"/>
              </a:ext>
            </a:extLst>
          </p:cNvPr>
          <p:cNvGraphicFramePr>
            <a:graphicFrameLocks noGrp="1"/>
          </p:cNvGraphicFramePr>
          <p:nvPr/>
        </p:nvGraphicFramePr>
        <p:xfrm>
          <a:off x="647700" y="1371600"/>
          <a:ext cx="7543800" cy="29241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236"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Process based </a:t>
                      </a:r>
                      <a:endParaRPr lang="en-IN" sz="1400" b="1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1" dirty="0"/>
                        <a:t>Thread based </a:t>
                      </a:r>
                      <a:endParaRPr lang="en-IN" sz="1400" b="1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36"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/>
                        <a:t>More overhead</a:t>
                      </a:r>
                      <a:endParaRPr lang="en-IN" sz="1400" b="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/>
                        <a:t>Less overhead</a:t>
                      </a:r>
                      <a:endParaRPr lang="en-IN" sz="1400" b="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694"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1400" b="0" dirty="0"/>
                        <a:t>Processes are heavyweight tasks that require their own separate address spaces</a:t>
                      </a:r>
                      <a:endParaRPr lang="en-IN" sz="1400" b="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1400" b="0" dirty="0"/>
                        <a:t>Threads are lightweight processes and they share the same address space. </a:t>
                      </a:r>
                      <a:endParaRPr lang="en-IN" sz="1400" b="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4772">
                <a:tc>
                  <a:txBody>
                    <a:bodyPr/>
                    <a:lstStyle/>
                    <a:p>
                      <a:pPr algn="just"/>
                      <a:r>
                        <a:rPr lang="en-US" altLang="en-US" sz="1400" b="0" dirty="0"/>
                        <a:t>Context switching from one process to other process is costly. </a:t>
                      </a:r>
                      <a:endParaRPr lang="en-IN" sz="1400" b="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dirty="0"/>
                        <a:t>context switching from one thread to the next is low cost.</a:t>
                      </a:r>
                    </a:p>
                    <a:p>
                      <a:pPr algn="just"/>
                      <a:endParaRPr lang="en-IN" sz="1400" b="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0236"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/>
                        <a:t>Not under the control of java</a:t>
                      </a:r>
                      <a:endParaRPr lang="en-IN" sz="1400" b="0" dirty="0"/>
                    </a:p>
                  </a:txBody>
                  <a:tcPr marT="45718" marB="45718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b="0" dirty="0"/>
                        <a:t>Under the control of java</a:t>
                      </a:r>
                      <a:endParaRPr lang="en-IN" sz="1400" b="0" dirty="0"/>
                    </a:p>
                  </a:txBody>
                  <a:tcPr marT="45718" marB="4571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9CA2478-E172-107B-41C8-F65EB77AA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458200" cy="304800"/>
          </a:xfrm>
        </p:spPr>
        <p:txBody>
          <a:bodyPr/>
          <a:lstStyle/>
          <a:p>
            <a:pPr eaLnBrk="1" hangingPunct="1"/>
            <a:r>
              <a:rPr lang="en-US" altLang="en-US" sz="2000"/>
              <a:t>Multithreaded program</a:t>
            </a:r>
          </a:p>
        </p:txBody>
      </p:sp>
      <p:sp>
        <p:nvSpPr>
          <p:cNvPr id="10243" name="Slide Number Placeholder 16">
            <a:extLst>
              <a:ext uri="{FF2B5EF4-FFF2-40B4-BE49-F238E27FC236}">
                <a16:creationId xmlns:a16="http://schemas.microsoft.com/office/drawing/2014/main" id="{1B85DF33-00C3-B410-C658-747D97DB17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DE3EA9D-E353-4A08-B634-AD47FAE01EF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B94DEEE-6FC8-346D-7C67-263AEE5E5F79}"/>
              </a:ext>
            </a:extLst>
          </p:cNvPr>
          <p:cNvCxnSpPr/>
          <p:nvPr/>
        </p:nvCxnSpPr>
        <p:spPr>
          <a:xfrm rot="5400000">
            <a:off x="3581401" y="3505200"/>
            <a:ext cx="10668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9F7CAD-6FB0-3AB0-4BC1-9CD842877DB7}"/>
              </a:ext>
            </a:extLst>
          </p:cNvPr>
          <p:cNvCxnSpPr/>
          <p:nvPr/>
        </p:nvCxnSpPr>
        <p:spPr>
          <a:xfrm rot="10800000">
            <a:off x="4572000" y="48006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6" name="TextBox 13">
            <a:extLst>
              <a:ext uri="{FF2B5EF4-FFF2-40B4-BE49-F238E27FC236}">
                <a16:creationId xmlns:a16="http://schemas.microsoft.com/office/drawing/2014/main" id="{057A7367-8610-D1EA-072E-0C68752AD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886200"/>
            <a:ext cx="83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sp>
        <p:nvSpPr>
          <p:cNvPr id="10247" name="TextBox 15">
            <a:extLst>
              <a:ext uri="{FF2B5EF4-FFF2-40B4-BE49-F238E27FC236}">
                <a16:creationId xmlns:a16="http://schemas.microsoft.com/office/drawing/2014/main" id="{58520474-B207-F9F1-308A-403D52C75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86200"/>
            <a:ext cx="83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BA2CE4-D5BA-86B1-EEC1-4C0EC783F243}"/>
              </a:ext>
            </a:extLst>
          </p:cNvPr>
          <p:cNvCxnSpPr>
            <a:endCxn id="10256" idx="0"/>
          </p:cNvCxnSpPr>
          <p:nvPr/>
        </p:nvCxnSpPr>
        <p:spPr>
          <a:xfrm rot="10800000" flipV="1">
            <a:off x="2133600" y="2971800"/>
            <a:ext cx="15240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B6DFE5-3C77-3155-ABF6-4CF8A296A876}"/>
              </a:ext>
            </a:extLst>
          </p:cNvPr>
          <p:cNvCxnSpPr/>
          <p:nvPr/>
        </p:nvCxnSpPr>
        <p:spPr>
          <a:xfrm>
            <a:off x="4572000" y="2971800"/>
            <a:ext cx="12954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3267570-4F87-F211-AF52-E9577C5CE060}"/>
              </a:ext>
            </a:extLst>
          </p:cNvPr>
          <p:cNvCxnSpPr/>
          <p:nvPr/>
        </p:nvCxnSpPr>
        <p:spPr>
          <a:xfrm>
            <a:off x="2667000" y="43434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2B5CAE2-8034-BFC2-380A-FC2BAB4A3A80}"/>
              </a:ext>
            </a:extLst>
          </p:cNvPr>
          <p:cNvCxnSpPr/>
          <p:nvPr/>
        </p:nvCxnSpPr>
        <p:spPr>
          <a:xfrm>
            <a:off x="4648200" y="43434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1A0E00-3803-B1CC-EFBC-7EB611FE4741}"/>
              </a:ext>
            </a:extLst>
          </p:cNvPr>
          <p:cNvCxnSpPr/>
          <p:nvPr/>
        </p:nvCxnSpPr>
        <p:spPr>
          <a:xfrm rot="10800000">
            <a:off x="2667000" y="47244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3" name="Rectangle 16">
            <a:extLst>
              <a:ext uri="{FF2B5EF4-FFF2-40B4-BE49-F238E27FC236}">
                <a16:creationId xmlns:a16="http://schemas.microsoft.com/office/drawing/2014/main" id="{018B051B-0200-A13D-63EE-B39EDF3DC2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4" name="Rectangle 39">
            <a:extLst>
              <a:ext uri="{FF2B5EF4-FFF2-40B4-BE49-F238E27FC236}">
                <a16:creationId xmlns:a16="http://schemas.microsoft.com/office/drawing/2014/main" id="{5BF8A331-B901-22BB-9558-02D04BC78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1336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55" name="TextBox 40">
            <a:extLst>
              <a:ext uri="{FF2B5EF4-FFF2-40B4-BE49-F238E27FC236}">
                <a16:creationId xmlns:a16="http://schemas.microsoft.com/office/drawing/2014/main" id="{06EB9A89-C75F-651C-2AF4-0CBC21206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286000"/>
            <a:ext cx="762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  Main Thread </a:t>
            </a:r>
          </a:p>
        </p:txBody>
      </p:sp>
      <p:sp>
        <p:nvSpPr>
          <p:cNvPr id="10256" name="Rectangle 44">
            <a:extLst>
              <a:ext uri="{FF2B5EF4-FFF2-40B4-BE49-F238E27FC236}">
                <a16:creationId xmlns:a16="http://schemas.microsoft.com/office/drawing/2014/main" id="{1AC3BE85-5EA8-8D15-69BF-57B927914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1148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57" name="TextBox 45">
            <a:extLst>
              <a:ext uri="{FF2B5EF4-FFF2-40B4-BE49-F238E27FC236}">
                <a16:creationId xmlns:a16="http://schemas.microsoft.com/office/drawing/2014/main" id="{8A1C2121-1CAD-334F-F795-D08640142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343400"/>
            <a:ext cx="76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Thread 1</a:t>
            </a:r>
          </a:p>
        </p:txBody>
      </p:sp>
      <p:sp>
        <p:nvSpPr>
          <p:cNvPr id="10258" name="Rectangle 46">
            <a:extLst>
              <a:ext uri="{FF2B5EF4-FFF2-40B4-BE49-F238E27FC236}">
                <a16:creationId xmlns:a16="http://schemas.microsoft.com/office/drawing/2014/main" id="{03BF6B1D-FFC4-4FA5-9B1B-978B3D105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1148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59" name="TextBox 47">
            <a:extLst>
              <a:ext uri="{FF2B5EF4-FFF2-40B4-BE49-F238E27FC236}">
                <a16:creationId xmlns:a16="http://schemas.microsoft.com/office/drawing/2014/main" id="{1D9EC7EA-FC9B-3CFF-D3BF-C6595BBF5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419600"/>
            <a:ext cx="76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Thread 2</a:t>
            </a:r>
          </a:p>
        </p:txBody>
      </p:sp>
      <p:sp>
        <p:nvSpPr>
          <p:cNvPr id="10260" name="Rectangle 48">
            <a:extLst>
              <a:ext uri="{FF2B5EF4-FFF2-40B4-BE49-F238E27FC236}">
                <a16:creationId xmlns:a16="http://schemas.microsoft.com/office/drawing/2014/main" id="{47794E49-14AC-71F2-C06F-190D07A57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114800"/>
            <a:ext cx="914400" cy="8382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0261" name="TextBox 49">
            <a:extLst>
              <a:ext uri="{FF2B5EF4-FFF2-40B4-BE49-F238E27FC236}">
                <a16:creationId xmlns:a16="http://schemas.microsoft.com/office/drawing/2014/main" id="{B2F9A76A-94FA-8F34-E8A4-3169742A6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4419600"/>
            <a:ext cx="762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Thread 3</a:t>
            </a:r>
          </a:p>
        </p:txBody>
      </p:sp>
      <p:sp>
        <p:nvSpPr>
          <p:cNvPr id="10262" name="TextBox 13">
            <a:extLst>
              <a:ext uri="{FF2B5EF4-FFF2-40B4-BE49-F238E27FC236}">
                <a16:creationId xmlns:a16="http://schemas.microsoft.com/office/drawing/2014/main" id="{114CE834-776F-1CFD-6C87-331FE175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976563"/>
            <a:ext cx="838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sp>
        <p:nvSpPr>
          <p:cNvPr id="10263" name="TextBox 13">
            <a:extLst>
              <a:ext uri="{FF2B5EF4-FFF2-40B4-BE49-F238E27FC236}">
                <a16:creationId xmlns:a16="http://schemas.microsoft.com/office/drawing/2014/main" id="{D9A11DCE-1ED5-F001-B6F6-976873107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2903538"/>
            <a:ext cx="838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Context switch</a:t>
            </a:r>
          </a:p>
        </p:txBody>
      </p:sp>
      <p:sp>
        <p:nvSpPr>
          <p:cNvPr id="10264" name="TextBox 2">
            <a:extLst>
              <a:ext uri="{FF2B5EF4-FFF2-40B4-BE49-F238E27FC236}">
                <a16:creationId xmlns:a16="http://schemas.microsoft.com/office/drawing/2014/main" id="{09F8BCA7-0907-0C86-FB76-2286975BC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25" y="5359400"/>
            <a:ext cx="86931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800"/>
              <a:t>Multithreading enables us to write very efficient programs that make the maximum use of the CPU, because the idle time can be kept to  a minimum.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02B661D6-8E8C-8763-5863-57B753C7B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6019800" cy="533400"/>
          </a:xfrm>
        </p:spPr>
        <p:txBody>
          <a:bodyPr/>
          <a:lstStyle/>
          <a:p>
            <a:pPr eaLnBrk="1" hangingPunct="1"/>
            <a:r>
              <a:rPr lang="en-US" altLang="en-US" sz="2000"/>
              <a:t>The Thread class and the Runnable Interface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0473FD67-DF11-7B70-90EA-6770599D6F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534400" cy="2133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 b="1"/>
              <a:t>Multithreading in Java is facilitated using,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1. </a:t>
            </a:r>
            <a:r>
              <a:rPr lang="en-US" altLang="en-US" sz="1600" b="1"/>
              <a:t>Thread class</a:t>
            </a:r>
            <a:r>
              <a:rPr lang="en-US" altLang="en-US" sz="1600"/>
              <a:t> and its methods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2.  The interface </a:t>
            </a:r>
            <a:r>
              <a:rPr lang="en-US" altLang="en-US" sz="1600" b="1"/>
              <a:t>Runnable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algn="just" eaLnBrk="1" hangingPunct="1"/>
            <a:r>
              <a:rPr lang="en-US" altLang="en-US" sz="1600"/>
              <a:t>To create a new thread our program will have to extend either the </a:t>
            </a:r>
            <a:r>
              <a:rPr lang="en-US" altLang="en-US" sz="1600" b="1"/>
              <a:t>Thread class </a:t>
            </a:r>
            <a:r>
              <a:rPr lang="en-US" altLang="en-US" sz="1600"/>
              <a:t>or implement the </a:t>
            </a:r>
            <a:r>
              <a:rPr lang="en-US" altLang="en-US" sz="1600" b="1"/>
              <a:t>Runnable</a:t>
            </a:r>
            <a:r>
              <a:rPr lang="en-US" altLang="en-US" sz="1600"/>
              <a:t> </a:t>
            </a:r>
            <a:r>
              <a:rPr lang="en-US" altLang="en-US" sz="1600" b="1"/>
              <a:t>interface.</a:t>
            </a:r>
          </a:p>
          <a:p>
            <a:pPr eaLnBrk="1" hangingPunct="1">
              <a:buFontTx/>
              <a:buNone/>
            </a:pPr>
            <a:endParaRPr lang="en-US" altLang="en-US" sz="1800" b="1"/>
          </a:p>
          <a:p>
            <a:pPr eaLnBrk="1" hangingPunct="1">
              <a:buFontTx/>
              <a:buNone/>
            </a:pPr>
            <a:endParaRPr lang="en-US" altLang="en-US" sz="1800" b="1"/>
          </a:p>
          <a:p>
            <a:pPr eaLnBrk="1" hangingPunct="1">
              <a:buFontTx/>
              <a:buNone/>
            </a:pPr>
            <a:endParaRPr lang="en-US" altLang="en-US" sz="24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DF5D8887-A81C-C6E7-ED54-4DB6CF2B2E2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60ED433-3C75-4CC9-BE66-8258E6EE396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579DDC7C-01F4-28B1-F3D5-4522E86636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1270" name="Picture 2">
            <a:extLst>
              <a:ext uri="{FF2B5EF4-FFF2-40B4-BE49-F238E27FC236}">
                <a16:creationId xmlns:a16="http://schemas.microsoft.com/office/drawing/2014/main" id="{A230103E-3FEC-582A-DB77-B16EDC971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3810000"/>
            <a:ext cx="275907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E34F65E-D744-5BA9-F444-0F73AE400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338513"/>
            <a:ext cx="4419600" cy="319087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2pPr>
            <a:lvl3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3pPr>
            <a:lvl4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4pPr>
            <a:lvl5pPr algn="l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5pPr>
            <a:lvl6pPr marL="4572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6pPr>
            <a:lvl7pPr marL="9144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7pPr>
            <a:lvl8pPr marL="13716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8pPr>
            <a:lvl9pPr marL="1828800" algn="l" rtl="0" eaLnBrk="1" fontAlgn="base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2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1800" kern="0" dirty="0">
                <a:solidFill>
                  <a:schemeClr val="tx1"/>
                </a:solidFill>
              </a:rPr>
              <a:t>Methods defined by Thread class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ED41A20-5022-B1EC-9C60-56F94CCE6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61722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The Main Thread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89FCC2D5-27B4-9103-3977-8EEA198E3D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534400" cy="30480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When a Java program is started the </a:t>
            </a:r>
            <a:r>
              <a:rPr lang="en-US" altLang="en-US" sz="1600" b="1">
                <a:solidFill>
                  <a:srgbClr val="FF0000"/>
                </a:solidFill>
              </a:rPr>
              <a:t>Main thread runs immediately</a:t>
            </a:r>
            <a:r>
              <a:rPr lang="en-US" altLang="en-US" sz="1600">
                <a:solidFill>
                  <a:srgbClr val="FF0000"/>
                </a:solidFill>
              </a:rPr>
              <a:t>. ie, it starts </a:t>
            </a:r>
          </a:p>
          <a:p>
            <a:pPr algn="just"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execution</a:t>
            </a:r>
            <a:r>
              <a:rPr lang="en-US" altLang="en-US" sz="1600"/>
              <a:t>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Importance of Main Thread:</a:t>
            </a:r>
          </a:p>
          <a:p>
            <a:pPr eaLnBrk="1" hangingPunct="1">
              <a:buFontTx/>
              <a:buNone/>
            </a:pPr>
            <a:endParaRPr lang="en-US" altLang="en-US" sz="1600" b="1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</a:t>
            </a:r>
            <a:r>
              <a:rPr lang="en-US" altLang="en-US" sz="1600">
                <a:solidFill>
                  <a:srgbClr val="FF0000"/>
                </a:solidFill>
              </a:rPr>
              <a:t>1. It is the thread from which other </a:t>
            </a:r>
            <a:r>
              <a:rPr lang="en-US" altLang="en-US" sz="1600" b="1">
                <a:solidFill>
                  <a:srgbClr val="FF0000"/>
                </a:solidFill>
              </a:rPr>
              <a:t>“child” </a:t>
            </a:r>
            <a:r>
              <a:rPr lang="en-US" altLang="en-US" sz="1600">
                <a:solidFill>
                  <a:srgbClr val="FF0000"/>
                </a:solidFill>
              </a:rPr>
              <a:t>threads will be spawned.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2. Often, it must be the </a:t>
            </a:r>
            <a:r>
              <a:rPr lang="en-US" altLang="en-US" sz="1600" b="1">
                <a:solidFill>
                  <a:srgbClr val="FF0000"/>
                </a:solidFill>
              </a:rPr>
              <a:t>last thread </a:t>
            </a:r>
            <a:r>
              <a:rPr lang="en-US" altLang="en-US" sz="1600"/>
              <a:t>to finish execution because it performs various shutdown actions. </a:t>
            </a:r>
          </a:p>
        </p:txBody>
      </p:sp>
      <p:sp>
        <p:nvSpPr>
          <p:cNvPr id="12292" name="Slide Number Placeholder 4">
            <a:extLst>
              <a:ext uri="{FF2B5EF4-FFF2-40B4-BE49-F238E27FC236}">
                <a16:creationId xmlns:a16="http://schemas.microsoft.com/office/drawing/2014/main" id="{244AACE8-8991-DE95-C4ED-3CBEF7663C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1EB8122-6894-4BC9-B378-3FCD0987D50F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5D0B8415-411C-CD56-1653-AE94F724C3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ontent Placeholder 2">
            <a:extLst>
              <a:ext uri="{FF2B5EF4-FFF2-40B4-BE49-F238E27FC236}">
                <a16:creationId xmlns:a16="http://schemas.microsoft.com/office/drawing/2014/main" id="{49A5CEFA-DD82-ED1C-ABD8-1453E95343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534400" cy="3581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/>
              <a:t>The main thread can be controlled through a </a:t>
            </a:r>
            <a:r>
              <a:rPr lang="en-US" altLang="en-US" sz="1600" b="1"/>
              <a:t>Thread</a:t>
            </a:r>
            <a:r>
              <a:rPr lang="en-US" altLang="en-US" sz="1600"/>
              <a:t> object. 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It is done by obtaining a reference to it by calling the method </a:t>
            </a:r>
            <a:r>
              <a:rPr lang="en-US" altLang="en-US" sz="1600" b="1"/>
              <a:t>currentThread()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The currentThread() is a public static member of thread . 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 b="1"/>
              <a:t>General form </a:t>
            </a:r>
            <a:r>
              <a:rPr lang="en-US" altLang="en-US" sz="1600"/>
              <a:t>: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                     static  Thread  currentThread()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chemeClr val="bg2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/>
              <a:t>It returns a reference to the thread in which it is called. 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By using </a:t>
            </a:r>
            <a:r>
              <a:rPr lang="en-US" altLang="en-US" sz="1800"/>
              <a:t>a reference to the main thread, we can control it like any other thread.</a:t>
            </a:r>
          </a:p>
        </p:txBody>
      </p:sp>
      <p:sp>
        <p:nvSpPr>
          <p:cNvPr id="13315" name="Slide Number Placeholder 4">
            <a:extLst>
              <a:ext uri="{FF2B5EF4-FFF2-40B4-BE49-F238E27FC236}">
                <a16:creationId xmlns:a16="http://schemas.microsoft.com/office/drawing/2014/main" id="{4AFA7179-196E-3C7C-5637-C673178FF0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B0CD894-6B95-42F2-9E96-E8021384CBCE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C675C1CC-7380-C2CE-189C-BCEB3B5406B9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9F54ED5-8A2C-0B7B-A4D7-435897B5C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7315200" cy="381000"/>
          </a:xfrm>
        </p:spPr>
        <p:txBody>
          <a:bodyPr/>
          <a:lstStyle/>
          <a:p>
            <a:pPr eaLnBrk="1" hangingPunct="1"/>
            <a:r>
              <a:rPr lang="en-US" altLang="en-US" sz="2000"/>
              <a:t>Example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C4A06F6E-5B19-3F58-EA1E-FBB9827AD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6106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// Controlling the main Thread.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class   CurrentThreadDemo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public   static   void   main(String 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{	</a:t>
            </a:r>
            <a:r>
              <a:rPr lang="en-US" altLang="en-US" sz="1400">
                <a:solidFill>
                  <a:srgbClr val="FF0000"/>
                </a:solidFill>
              </a:rPr>
              <a:t>Thread   t = Thread.currentThread();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System.out.println(“Current thread: “ + </a:t>
            </a:r>
            <a:r>
              <a:rPr lang="en-US" altLang="en-US" sz="1400">
                <a:solidFill>
                  <a:srgbClr val="FF0000"/>
                </a:solidFill>
              </a:rPr>
              <a:t>t</a:t>
            </a:r>
            <a:r>
              <a:rPr lang="en-US" altLang="en-US" sz="14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</a:t>
            </a:r>
            <a:r>
              <a:rPr lang="en-US" altLang="en-US" sz="1400">
                <a:solidFill>
                  <a:srgbClr val="FF0000"/>
                </a:solidFill>
              </a:rPr>
              <a:t>t.setName(“My Thread”);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System.out.println(“After name change: “ + </a:t>
            </a:r>
            <a:r>
              <a:rPr lang="en-US" altLang="en-US" sz="1400">
                <a:solidFill>
                  <a:srgbClr val="FF0000"/>
                </a:solidFill>
              </a:rPr>
              <a:t>t</a:t>
            </a:r>
            <a:r>
              <a:rPr lang="en-US" altLang="en-US" sz="14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try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{	            for(int   n = 5;n&gt;0;n--)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   {	        System.out.println(n);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        </a:t>
            </a:r>
            <a:r>
              <a:rPr lang="en-US" altLang="en-US" sz="1400">
                <a:solidFill>
                  <a:srgbClr val="FF0000"/>
                </a:solidFill>
              </a:rPr>
              <a:t>Thread.sleep(1000);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 catch(InterruptedException    e) 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	System.out.println(“Main thread interrupted”);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 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}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14340" name="Slide Number Placeholder 4">
            <a:extLst>
              <a:ext uri="{FF2B5EF4-FFF2-40B4-BE49-F238E27FC236}">
                <a16:creationId xmlns:a16="http://schemas.microsoft.com/office/drawing/2014/main" id="{98668435-15EC-4270-580C-38D33B06259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6D7C0BE-DDF5-4D28-8044-E74E9B5B62F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767404F0-5A01-9587-154A-9352B6E464D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>
            <a:extLst>
              <a:ext uri="{FF2B5EF4-FFF2-40B4-BE49-F238E27FC236}">
                <a16:creationId xmlns:a16="http://schemas.microsoft.com/office/drawing/2014/main" id="{FFE0EB17-177E-3DB2-F222-CCFD145366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5344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/>
              <a:t>Current thread: Thread [</a:t>
            </a:r>
            <a:r>
              <a:rPr lang="en-US" altLang="en-US" sz="1600">
                <a:solidFill>
                  <a:srgbClr val="FF0000"/>
                </a:solidFill>
              </a:rPr>
              <a:t>main</a:t>
            </a:r>
            <a:r>
              <a:rPr lang="en-US" altLang="en-US" sz="1600"/>
              <a:t>, 5, main]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After name change: Thread [</a:t>
            </a:r>
            <a:r>
              <a:rPr lang="en-US" altLang="en-US" sz="1600">
                <a:solidFill>
                  <a:srgbClr val="FF0000"/>
                </a:solidFill>
              </a:rPr>
              <a:t>My Thread</a:t>
            </a:r>
            <a:r>
              <a:rPr lang="en-US" altLang="en-US" sz="1600"/>
              <a:t>, 5, main]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5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4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3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2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1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600"/>
          </a:p>
          <a:p>
            <a:pPr algn="just" eaLnBrk="1" hangingPunct="1"/>
            <a:r>
              <a:rPr lang="en-US" altLang="en-US" sz="1400"/>
              <a:t>The first line in the output displays the name of the thread, its priority and the name of its group.</a:t>
            </a:r>
          </a:p>
          <a:p>
            <a:pPr algn="just" eaLnBrk="1" hangingPunct="1"/>
            <a:endParaRPr lang="en-US" altLang="en-US" sz="1400"/>
          </a:p>
          <a:p>
            <a:pPr algn="just" eaLnBrk="1" hangingPunct="1"/>
            <a:r>
              <a:rPr lang="en-US" altLang="en-US" sz="1400"/>
              <a:t>The second line displays the output after changing the thread name.</a:t>
            </a:r>
          </a:p>
          <a:p>
            <a:pPr algn="just" eaLnBrk="1" hangingPunct="1"/>
            <a:endParaRPr lang="en-US" altLang="en-US" sz="1400"/>
          </a:p>
          <a:p>
            <a:pPr algn="just" eaLnBrk="1" hangingPunct="1"/>
            <a:r>
              <a:rPr lang="en-US" altLang="en-US" sz="1400"/>
              <a:t>Thread group is a data structure that controls the state of a collection of threads as a whole.</a:t>
            </a:r>
          </a:p>
          <a:p>
            <a:pPr algn="just" eaLnBrk="1" hangingPunct="1"/>
            <a:endParaRPr lang="en-US" altLang="en-US" sz="1400"/>
          </a:p>
          <a:p>
            <a:pPr algn="just" eaLnBrk="1" hangingPunct="1"/>
            <a:r>
              <a:rPr lang="en-US" altLang="en-US" sz="1400"/>
              <a:t>The sleep() method causes the thread from which it is called to suspend execution for  the specified period of milliseconds.</a:t>
            </a:r>
          </a:p>
        </p:txBody>
      </p:sp>
      <p:sp>
        <p:nvSpPr>
          <p:cNvPr id="15363" name="Slide Number Placeholder 4">
            <a:extLst>
              <a:ext uri="{FF2B5EF4-FFF2-40B4-BE49-F238E27FC236}">
                <a16:creationId xmlns:a16="http://schemas.microsoft.com/office/drawing/2014/main" id="{EBEF4374-4484-3B9F-45C9-F966ABF73D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C1CA438-9985-4730-A365-668D8D7E7BFD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4" name="Rectangle 5">
            <a:extLst>
              <a:ext uri="{FF2B5EF4-FFF2-40B4-BE49-F238E27FC236}">
                <a16:creationId xmlns:a16="http://schemas.microsoft.com/office/drawing/2014/main" id="{0E704A88-4A98-8A65-E02D-73F5FEE22E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9DD51F04-58E1-C434-C9E1-F94B759156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838200"/>
            <a:ext cx="8534400" cy="1981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/>
              <a:t> </a:t>
            </a:r>
            <a:r>
              <a:rPr lang="en-US" altLang="en-US" sz="1600">
                <a:solidFill>
                  <a:srgbClr val="FF0000"/>
                </a:solidFill>
              </a:rPr>
              <a:t>1. static void sleep(long milliseconds) throws InterruptedException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2. static void sleep(long milliseconds,  int nanoseconds) throws InterruptedException 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The second form allows us to specify the period in terms of milliseconds and nanoseconds.</a:t>
            </a:r>
          </a:p>
        </p:txBody>
      </p:sp>
      <p:sp>
        <p:nvSpPr>
          <p:cNvPr id="16387" name="Slide Number Placeholder 4">
            <a:extLst>
              <a:ext uri="{FF2B5EF4-FFF2-40B4-BE49-F238E27FC236}">
                <a16:creationId xmlns:a16="http://schemas.microsoft.com/office/drawing/2014/main" id="{9ADAA51F-713E-BA3F-BB04-F0A2C95FD7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192FBBF-3BB1-4261-AD35-0D14ADC3CA8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2DBB8E68-E898-BBEE-9CED-F5AB6EE2F4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6C440087-EB99-713D-CB98-C91AC8D69D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686800" cy="37338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We can set the name of a thread by using setName().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                      final    void    setName(String    threadName)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Here threadName specifies the name of the thread.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We can obtain the name of a thread by calling getName().</a:t>
            </a: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chemeClr val="bg2"/>
                </a:solidFill>
              </a:rPr>
              <a:t>                          final    String    getName()</a:t>
            </a:r>
          </a:p>
        </p:txBody>
      </p:sp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id="{1C8BB734-EE1B-C286-8E2F-6352356AE2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567FDA5-B35E-455A-AA56-4366CB5CBAA7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AEE7B4B0-4F3C-254B-EE06-9F39B6B78D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2179DB45-1962-34CE-4A60-E705772270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Life cycle of a thread</a:t>
            </a:r>
          </a:p>
        </p:txBody>
      </p:sp>
      <p:sp>
        <p:nvSpPr>
          <p:cNvPr id="18435" name="Slide Number Placeholder 22">
            <a:extLst>
              <a:ext uri="{FF2B5EF4-FFF2-40B4-BE49-F238E27FC236}">
                <a16:creationId xmlns:a16="http://schemas.microsoft.com/office/drawing/2014/main" id="{0C1DA743-2EF5-E952-9B95-FDEF970C3A9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AC00CBB2-70F4-4BF9-8259-F5A9075F335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9EBDE9-E1C5-93AA-1036-83237D88C152}"/>
              </a:ext>
            </a:extLst>
          </p:cNvPr>
          <p:cNvSpPr/>
          <p:nvPr/>
        </p:nvSpPr>
        <p:spPr>
          <a:xfrm>
            <a:off x="2209800" y="1524000"/>
            <a:ext cx="1295400" cy="533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>
                <a:solidFill>
                  <a:schemeClr val="tx1"/>
                </a:solidFill>
              </a:rPr>
              <a:t>newborn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CC7936-234C-3C8F-8A4F-99EEF4842D78}"/>
              </a:ext>
            </a:extLst>
          </p:cNvPr>
          <p:cNvSpPr/>
          <p:nvPr/>
        </p:nvSpPr>
        <p:spPr>
          <a:xfrm>
            <a:off x="990600" y="2971800"/>
            <a:ext cx="3886200" cy="1676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478ED3-5E07-6415-7AE7-BDB2BB2D0873}"/>
              </a:ext>
            </a:extLst>
          </p:cNvPr>
          <p:cNvSpPr/>
          <p:nvPr/>
        </p:nvSpPr>
        <p:spPr>
          <a:xfrm>
            <a:off x="2438400" y="5410200"/>
            <a:ext cx="1219200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>
                <a:solidFill>
                  <a:schemeClr val="tx1"/>
                </a:solidFill>
              </a:rPr>
              <a:t>blocked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7BB433-8D26-304C-81BF-32EF41884BA4}"/>
              </a:ext>
            </a:extLst>
          </p:cNvPr>
          <p:cNvSpPr/>
          <p:nvPr/>
        </p:nvSpPr>
        <p:spPr>
          <a:xfrm>
            <a:off x="1066800" y="3581400"/>
            <a:ext cx="12954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>
                <a:solidFill>
                  <a:schemeClr val="tx1"/>
                </a:solidFill>
              </a:rPr>
              <a:t>running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B55A1B-154A-05F9-1EAC-ECDC517655B1}"/>
              </a:ext>
            </a:extLst>
          </p:cNvPr>
          <p:cNvSpPr/>
          <p:nvPr/>
        </p:nvSpPr>
        <p:spPr>
          <a:xfrm>
            <a:off x="3352800" y="3581400"/>
            <a:ext cx="1295400" cy="533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>
                <a:solidFill>
                  <a:schemeClr val="tx1"/>
                </a:solidFill>
              </a:rPr>
              <a:t>ready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3B669A-AB59-46CB-B2BE-E7724AB3E6CF}"/>
              </a:ext>
            </a:extLst>
          </p:cNvPr>
          <p:cNvSpPr/>
          <p:nvPr/>
        </p:nvSpPr>
        <p:spPr>
          <a:xfrm>
            <a:off x="7010400" y="3276600"/>
            <a:ext cx="1295400" cy="609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400" dirty="0">
                <a:solidFill>
                  <a:schemeClr val="tx1"/>
                </a:solidFill>
              </a:rPr>
              <a:t>dead</a:t>
            </a:r>
          </a:p>
        </p:txBody>
      </p:sp>
      <p:sp>
        <p:nvSpPr>
          <p:cNvPr id="18442" name="TextBox 20">
            <a:extLst>
              <a:ext uri="{FF2B5EF4-FFF2-40B4-BE49-F238E27FC236}">
                <a16:creationId xmlns:a16="http://schemas.microsoft.com/office/drawing/2014/main" id="{E3797180-47F1-7CC7-68D3-412DC8B5D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419600"/>
            <a:ext cx="609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stop</a:t>
            </a:r>
          </a:p>
        </p:txBody>
      </p:sp>
      <p:sp>
        <p:nvSpPr>
          <p:cNvPr id="18443" name="TextBox 22">
            <a:extLst>
              <a:ext uri="{FF2B5EF4-FFF2-40B4-BE49-F238E27FC236}">
                <a16:creationId xmlns:a16="http://schemas.microsoft.com/office/drawing/2014/main" id="{ACF0A78B-E4E9-B4A4-4D56-97750ED37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2004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stop</a:t>
            </a:r>
          </a:p>
        </p:txBody>
      </p:sp>
      <p:sp>
        <p:nvSpPr>
          <p:cNvPr id="18444" name="TextBox 27">
            <a:extLst>
              <a:ext uri="{FF2B5EF4-FFF2-40B4-BE49-F238E27FC236}">
                <a16:creationId xmlns:a16="http://schemas.microsoft.com/office/drawing/2014/main" id="{C356CBB9-459D-EB1C-EE70-A47924744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648200"/>
            <a:ext cx="12192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>
                <a:latin typeface="Times New Roman" panose="02020603050405020304" pitchFamily="18" charset="0"/>
              </a:rPr>
              <a:t>     </a:t>
            </a:r>
            <a:r>
              <a:rPr lang="en-US" altLang="en-US" sz="1400">
                <a:latin typeface="Times New Roman" panose="02020603050405020304" pitchFamily="18" charset="0"/>
              </a:rPr>
              <a:t>suspend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wait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     sleep</a:t>
            </a:r>
          </a:p>
        </p:txBody>
      </p:sp>
      <p:sp>
        <p:nvSpPr>
          <p:cNvPr id="18445" name="TextBox 28">
            <a:extLst>
              <a:ext uri="{FF2B5EF4-FFF2-40B4-BE49-F238E27FC236}">
                <a16:creationId xmlns:a16="http://schemas.microsoft.com/office/drawing/2014/main" id="{D483F0B6-649E-9ACD-7BCB-20B3D3100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648200"/>
            <a:ext cx="914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resume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notify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616EF79-C6B8-AB73-90C6-EB5860DCE1DE}"/>
              </a:ext>
            </a:extLst>
          </p:cNvPr>
          <p:cNvCxnSpPr>
            <a:endCxn id="10" idx="1"/>
          </p:cNvCxnSpPr>
          <p:nvPr/>
        </p:nvCxnSpPr>
        <p:spPr>
          <a:xfrm>
            <a:off x="4876800" y="3581400"/>
            <a:ext cx="2133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A42B4A7-A0ED-99D0-C1D4-A7E6BE7A5698}"/>
              </a:ext>
            </a:extLst>
          </p:cNvPr>
          <p:cNvCxnSpPr>
            <a:stCxn id="5" idx="3"/>
          </p:cNvCxnSpPr>
          <p:nvPr/>
        </p:nvCxnSpPr>
        <p:spPr>
          <a:xfrm>
            <a:off x="3505200" y="1790700"/>
            <a:ext cx="3429000" cy="1638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5B72A1B8-DA9D-7B73-F5E3-9266280DFB65}"/>
              </a:ext>
            </a:extLst>
          </p:cNvPr>
          <p:cNvCxnSpPr>
            <a:stCxn id="8" idx="0"/>
            <a:endCxn id="9" idx="0"/>
          </p:cNvCxnSpPr>
          <p:nvPr/>
        </p:nvCxnSpPr>
        <p:spPr>
          <a:xfrm rot="5400000" flipH="1" flipV="1">
            <a:off x="2857500" y="2438401"/>
            <a:ext cx="3175" cy="2286000"/>
          </a:xfrm>
          <a:prstGeom prst="curved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052F0499-8160-CB34-E940-812B3CE47AE8}"/>
              </a:ext>
            </a:extLst>
          </p:cNvPr>
          <p:cNvCxnSpPr>
            <a:stCxn id="9" idx="4"/>
            <a:endCxn id="8" idx="4"/>
          </p:cNvCxnSpPr>
          <p:nvPr/>
        </p:nvCxnSpPr>
        <p:spPr>
          <a:xfrm rot="5400000">
            <a:off x="2857500" y="2971801"/>
            <a:ext cx="3175" cy="2286000"/>
          </a:xfrm>
          <a:prstGeom prst="curvedConnector3">
            <a:avLst>
              <a:gd name="adj1" fmla="val 14395466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F57A13-443F-E71C-36E7-2E46F7FB6B03}"/>
              </a:ext>
            </a:extLst>
          </p:cNvPr>
          <p:cNvCxnSpPr>
            <a:stCxn id="5" idx="2"/>
          </p:cNvCxnSpPr>
          <p:nvPr/>
        </p:nvCxnSpPr>
        <p:spPr>
          <a:xfrm rot="5400000">
            <a:off x="2400301" y="2514600"/>
            <a:ext cx="914400" cy="3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66B8F7D-67A4-ADEB-E43A-08DEAC6696DA}"/>
              </a:ext>
            </a:extLst>
          </p:cNvPr>
          <p:cNvCxnSpPr>
            <a:stCxn id="7" idx="3"/>
          </p:cNvCxnSpPr>
          <p:nvPr/>
        </p:nvCxnSpPr>
        <p:spPr>
          <a:xfrm flipV="1">
            <a:off x="3657600" y="3733800"/>
            <a:ext cx="3276600" cy="1905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4ABF14-3226-00A7-89BC-36655988EB1C}"/>
              </a:ext>
            </a:extLst>
          </p:cNvPr>
          <p:cNvCxnSpPr/>
          <p:nvPr/>
        </p:nvCxnSpPr>
        <p:spPr>
          <a:xfrm rot="5400000">
            <a:off x="2363788" y="5029200"/>
            <a:ext cx="7604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66DAA7C-EFE2-A3E1-55F6-76616E72B94F}"/>
              </a:ext>
            </a:extLst>
          </p:cNvPr>
          <p:cNvCxnSpPr/>
          <p:nvPr/>
        </p:nvCxnSpPr>
        <p:spPr>
          <a:xfrm rot="5400000" flipH="1" flipV="1">
            <a:off x="3011488" y="4991100"/>
            <a:ext cx="68421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54" name="Rectangle 37">
            <a:extLst>
              <a:ext uri="{FF2B5EF4-FFF2-40B4-BE49-F238E27FC236}">
                <a16:creationId xmlns:a16="http://schemas.microsoft.com/office/drawing/2014/main" id="{0959C058-00B7-9E0C-D775-5F2CCAFEF8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5" name="TextBox 22">
            <a:extLst>
              <a:ext uri="{FF2B5EF4-FFF2-40B4-BE49-F238E27FC236}">
                <a16:creationId xmlns:a16="http://schemas.microsoft.com/office/drawing/2014/main" id="{F11DEDC0-FF74-D926-DA4B-A5B8DF340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21336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stop</a:t>
            </a:r>
          </a:p>
        </p:txBody>
      </p:sp>
      <p:sp>
        <p:nvSpPr>
          <p:cNvPr id="18456" name="TextBox 22">
            <a:extLst>
              <a:ext uri="{FF2B5EF4-FFF2-40B4-BE49-F238E27FC236}">
                <a16:creationId xmlns:a16="http://schemas.microsoft.com/office/drawing/2014/main" id="{B75FE2DE-4708-7006-A4FB-CD8BCDF86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362200"/>
            <a:ext cx="685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400">
                <a:latin typeface="Times New Roman" panose="02020603050405020304" pitchFamily="18" charset="0"/>
              </a:rPr>
              <a:t>start</a:t>
            </a: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EDDF4D2-56D4-957A-3012-4003C4BA9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9916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Creating a Thread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ABF823F3-4585-A597-CBC8-F71695D3C5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90600"/>
            <a:ext cx="85344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600"/>
              <a:t>A thread can be created by </a:t>
            </a:r>
            <a:r>
              <a:rPr lang="en-US" altLang="en-US" sz="1600" b="1"/>
              <a:t>instantiating an object </a:t>
            </a:r>
            <a:r>
              <a:rPr lang="en-US" altLang="en-US" sz="1600"/>
              <a:t>of type Thread.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The 2 ways defined by Java for the creation of thread are: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1. By </a:t>
            </a:r>
            <a:r>
              <a:rPr lang="en-US" altLang="en-US" sz="1600" b="1"/>
              <a:t>Implementing the Runnable interface.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2.  By </a:t>
            </a:r>
            <a:r>
              <a:rPr lang="en-US" altLang="en-US" sz="1600" b="1"/>
              <a:t>Extending the Thread class.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EB1496DF-E35D-6EEA-E7BB-5F67B0B3E7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2E7BDC5-3B7D-4DF1-9C69-36A9D954B462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347FDB63-E5FD-D58C-C59B-9D69AF213B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03CB5B4B-0841-BBB2-998E-A6011BE37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534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chemeClr val="tx2"/>
                </a:solidFill>
              </a:rPr>
              <a:t>Implementing Runnable: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We can construct a thread on any object that implements </a:t>
            </a:r>
            <a:r>
              <a:rPr lang="en-US" altLang="en-US" sz="1600" b="1"/>
              <a:t>Runnable.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/>
              <a:t>To implement Runnable, a class need to implement a single method called</a:t>
            </a:r>
            <a:r>
              <a:rPr lang="en-US" altLang="en-US" sz="1600" b="1"/>
              <a:t> run().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                       </a:t>
            </a:r>
            <a:r>
              <a:rPr lang="en-US" altLang="en-US" sz="1600">
                <a:solidFill>
                  <a:srgbClr val="FF0000"/>
                </a:solidFill>
              </a:rPr>
              <a:t> public  void  run()</a:t>
            </a:r>
          </a:p>
          <a:p>
            <a:pPr eaLnBrk="1" hangingPunct="1">
              <a:buFontTx/>
              <a:buNone/>
            </a:pPr>
            <a:endParaRPr lang="en-US" altLang="en-US" sz="160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1600">
                <a:solidFill>
                  <a:srgbClr val="FF0000"/>
                </a:solidFill>
              </a:rPr>
              <a:t>Inside run(), we will define the code that constitutes the new thread.</a:t>
            </a:r>
          </a:p>
          <a:p>
            <a:pPr eaLnBrk="1" hangingPunct="1"/>
            <a:endParaRPr lang="en-US" altLang="en-US" sz="1600"/>
          </a:p>
          <a:p>
            <a:pPr algn="just" eaLnBrk="1" hangingPunct="1"/>
            <a:r>
              <a:rPr lang="en-US" altLang="en-US" sz="1600"/>
              <a:t>The run() can call other methods, use other classes and declare variables like the main thread.</a:t>
            </a:r>
          </a:p>
          <a:p>
            <a:pPr algn="just" eaLnBrk="1" hangingPunct="1"/>
            <a:r>
              <a:rPr lang="en-US" altLang="en-US" sz="1600">
                <a:solidFill>
                  <a:schemeClr val="bg2"/>
                </a:solidFill>
              </a:rPr>
              <a:t>run() establishes an entry point for another concurrent thread of execution within our program.</a:t>
            </a:r>
          </a:p>
          <a:p>
            <a:pPr algn="just" eaLnBrk="1" hangingPunct="1"/>
            <a:endParaRPr lang="en-US" altLang="en-US" sz="1600"/>
          </a:p>
        </p:txBody>
      </p:sp>
      <p:sp>
        <p:nvSpPr>
          <p:cNvPr id="20483" name="Slide Number Placeholder 4">
            <a:extLst>
              <a:ext uri="{FF2B5EF4-FFF2-40B4-BE49-F238E27FC236}">
                <a16:creationId xmlns:a16="http://schemas.microsoft.com/office/drawing/2014/main" id="{E82B7495-7CA8-40DC-7BA5-DDCA9A20B4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FDEF540-964A-49BF-A1F7-8DA748138DA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288FDF72-F24F-8EA5-ECBB-DFD0B5AC23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931BC49F-62F5-B51A-7656-ED8ECA1D7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838200"/>
            <a:ext cx="86868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/>
              <a:t>After creating a class that implements Runnable ,we can instantiate an object of type Thread from within that class.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r>
              <a:rPr lang="en-US" altLang="en-US" sz="1600" b="1"/>
              <a:t>Constructors defined by Thread: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</a:t>
            </a:r>
            <a:r>
              <a:rPr lang="en-US" altLang="en-US" sz="1600">
                <a:solidFill>
                  <a:srgbClr val="FF0000"/>
                </a:solidFill>
              </a:rPr>
              <a:t>Thread()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	                Thread(Runnable   threadOb) 	      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</a:t>
            </a:r>
            <a:r>
              <a:rPr lang="en-US" altLang="en-US" sz="1600">
                <a:solidFill>
                  <a:srgbClr val="FF0000"/>
                </a:solidFill>
              </a:rPr>
              <a:t>Thread(String   threadName)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Thread(Runnable   threadOb,  String   threadName)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Here, </a:t>
            </a:r>
          </a:p>
          <a:p>
            <a:pPr algn="just" eaLnBrk="1" hangingPunct="1"/>
            <a:r>
              <a:rPr lang="en-US" altLang="en-US" sz="1600"/>
              <a:t>threadOb is an instance of  a class that implements Runnable interface. It defines  where the execution of the thread will begin.</a:t>
            </a:r>
          </a:p>
          <a:p>
            <a:pPr eaLnBrk="1" hangingPunct="1"/>
            <a:r>
              <a:rPr lang="en-US" altLang="en-US" sz="1600"/>
              <a:t>threadName is the name of the new thread.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AD76C205-39C4-F729-9220-8F7BCDAB3E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B205EF-7D5F-4E3C-ACF8-1A1CC674D89E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35D6C88C-0C9A-7982-FB02-0EA0140C5F4B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1465B3C8-D56E-EB31-78A4-19F0B91F1F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143000"/>
            <a:ext cx="8686800" cy="213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After the creation of a new thread it will not start running until the start()  method declared inside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the Thread is called.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6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600"/>
              <a:t>start() executes a call to run().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 General form: </a:t>
            </a: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                             </a:t>
            </a:r>
            <a:r>
              <a:rPr lang="en-US" altLang="en-US" sz="1600">
                <a:solidFill>
                  <a:srgbClr val="FF0000"/>
                </a:solidFill>
              </a:rPr>
              <a:t>void  start()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>
              <a:buFontTx/>
              <a:buNone/>
            </a:pPr>
            <a:endParaRPr lang="en-US" altLang="en-US" sz="1800"/>
          </a:p>
        </p:txBody>
      </p:sp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0DEB4A3B-4C38-3CE8-A62B-8845550124E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85117CC4-CE58-4F3C-98E4-376BE855F18A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66F1ED05-531F-9457-5034-022D94194F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2C35D081-0820-C372-D809-5DBA12E4FE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85800"/>
            <a:ext cx="84582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class  NewThread  </a:t>
            </a:r>
            <a:r>
              <a:rPr lang="en-US" altLang="en-US" sz="1400">
                <a:solidFill>
                  <a:srgbClr val="FF0000"/>
                </a:solidFill>
              </a:rPr>
              <a:t>implements  Runnable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		Thread   t;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NewThread()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</a:t>
            </a:r>
            <a:r>
              <a:rPr lang="en-US" altLang="en-US" sz="1400">
                <a:solidFill>
                  <a:srgbClr val="FF0000"/>
                </a:solidFill>
              </a:rPr>
              <a:t>t = new   Thread(this);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</a:t>
            </a:r>
            <a:r>
              <a:rPr lang="en-US" altLang="en-US" sz="1400">
                <a:solidFill>
                  <a:srgbClr val="FF0000"/>
                </a:solidFill>
              </a:rPr>
              <a:t>t.start(); </a:t>
            </a:r>
            <a:r>
              <a:rPr lang="en-US" altLang="en-US" sz="1400"/>
              <a:t>// Start the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</a:t>
            </a:r>
            <a:r>
              <a:rPr lang="en-US" altLang="en-US" sz="1400">
                <a:solidFill>
                  <a:srgbClr val="FF0000"/>
                </a:solidFill>
              </a:rPr>
              <a:t>public  void   run() 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     	{</a:t>
            </a:r>
          </a:p>
          <a:p>
            <a:pPr eaLnBrk="1" hangingPunct="1"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     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class  ThreadDemo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  	public  static  void  main(String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NewThread t = new   NewThread();   // create a new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	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B02D4331-B745-F950-C9FA-9B29D27E1A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BD30810-7211-4395-A597-85D00C28BD2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B6E20E34-0879-A1E1-CBB0-52CD40723E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7A894E74-ACFC-D32F-5109-D64C1A5869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533400"/>
            <a:ext cx="85344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NewThread   implements   Runnable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{		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Thread   t;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 NewThread()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{		t = new   Thread(this, "Demo Thread");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	System.out.println("Child thread: " + t);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	t.start(); // Start the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     // This is the entry point for the second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</a:t>
            </a:r>
            <a:r>
              <a:rPr lang="en-US" altLang="en-US" sz="1200">
                <a:solidFill>
                  <a:srgbClr val="FF0000"/>
                </a:solidFill>
              </a:rPr>
              <a:t>             public   void   run()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              {	</a:t>
            </a:r>
            <a:r>
              <a:rPr lang="en-US" altLang="en-US" sz="1200"/>
              <a:t>       try { </a:t>
            </a:r>
            <a:r>
              <a:rPr lang="nn-NO" altLang="en-US" sz="1200"/>
              <a:t>	</a:t>
            </a:r>
          </a:p>
          <a:p>
            <a:pPr eaLnBrk="1" hangingPunct="1">
              <a:buFontTx/>
              <a:buNone/>
            </a:pPr>
            <a:r>
              <a:rPr lang="nn-NO" altLang="en-US" sz="1200"/>
              <a:t>			</a:t>
            </a:r>
            <a:r>
              <a:rPr lang="nn-NO" altLang="en-US" sz="1200">
                <a:solidFill>
                  <a:srgbClr val="FF0000"/>
                </a:solidFill>
              </a:rPr>
              <a:t>for(int  i = 5; i &gt; 0; i--)</a:t>
            </a:r>
          </a:p>
          <a:p>
            <a:pPr eaLnBrk="1" hangingPunct="1">
              <a:buFontTx/>
              <a:buNone/>
            </a:pPr>
            <a:r>
              <a:rPr lang="nn-NO" altLang="en-US" sz="1200">
                <a:solidFill>
                  <a:srgbClr val="FF0000"/>
                </a:solidFill>
              </a:rPr>
              <a:t>     		 {</a:t>
            </a:r>
            <a:r>
              <a:rPr lang="en-US" altLang="en-US" sz="1200">
                <a:solidFill>
                  <a:srgbClr val="FF0000"/>
                </a:solidFill>
              </a:rPr>
              <a:t>	System.out.println("Child Thread: " + i);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		Thread.sleep(500);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   	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         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          catch (InterruptedException   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          {            System.out.println("Child interrupted.");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       System.out.println("Exiting child thread.");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</a:t>
            </a:r>
            <a:r>
              <a:rPr lang="en-US" altLang="en-US" sz="1200">
                <a:solidFill>
                  <a:srgbClr val="FF0000"/>
                </a:solidFill>
              </a:rPr>
              <a:t>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}</a:t>
            </a: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CD7DB95B-DB9E-4662-9DB4-A52083388F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F605D80-B4D5-487B-BCE5-6D801B94EA65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286ADBA3-B247-F7A6-8378-84B8B6243CF9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>
            <a:extLst>
              <a:ext uri="{FF2B5EF4-FFF2-40B4-BE49-F238E27FC236}">
                <a16:creationId xmlns:a16="http://schemas.microsoft.com/office/drawing/2014/main" id="{51EF452C-177E-A701-2F44-A109D0C94B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533400"/>
            <a:ext cx="8534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ThreadDemo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{  	      public   static   void   main(String    args[])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{	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new   NewThread(); // create a new thre</a:t>
            </a:r>
            <a:r>
              <a:rPr lang="en-US" altLang="en-US" sz="1200"/>
              <a:t>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try {</a:t>
            </a:r>
          </a:p>
          <a:p>
            <a:pPr eaLnBrk="1" hangingPunct="1">
              <a:buFontTx/>
              <a:buNone/>
            </a:pPr>
            <a:r>
              <a:rPr lang="nn-NO" altLang="en-US" sz="1200"/>
              <a:t>			</a:t>
            </a:r>
            <a:r>
              <a:rPr lang="nn-NO" altLang="en-US" sz="1200">
                <a:solidFill>
                  <a:srgbClr val="FF0000"/>
                </a:solidFill>
              </a:rPr>
              <a:t>for(int   i = 5; i &gt; 0; i--)</a:t>
            </a:r>
          </a:p>
          <a:p>
            <a:pPr eaLnBrk="1" hangingPunct="1">
              <a:buFontTx/>
              <a:buNone/>
            </a:pPr>
            <a:r>
              <a:rPr lang="nn-NO" altLang="en-US" sz="1200">
                <a:solidFill>
                  <a:srgbClr val="FF0000"/>
                </a:solidFill>
              </a:rPr>
              <a:t>			 {      </a:t>
            </a:r>
            <a:r>
              <a:rPr lang="en-US" altLang="en-US" sz="1200">
                <a:solidFill>
                  <a:srgbClr val="FF0000"/>
                </a:solidFill>
              </a:rPr>
              <a:t>System.out.println("Main Thread: " + i);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	        Thread.sleep(1000);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			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catch (InterruptedException    e)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{       System.out.println("Main thread interrupted.");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 System.out.println("Main thread exiting.");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}	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}</a:t>
            </a:r>
          </a:p>
          <a:p>
            <a:pPr eaLnBrk="1" hangingPunct="1">
              <a:buFontTx/>
              <a:buNone/>
            </a:pPr>
            <a:endParaRPr lang="en-US" altLang="en-US" sz="1200"/>
          </a:p>
          <a:p>
            <a:pPr eaLnBrk="1" hangingPunct="1">
              <a:buFontTx/>
              <a:buNone/>
            </a:pPr>
            <a:r>
              <a:rPr lang="en-US" altLang="en-US" sz="1600" b="1"/>
              <a:t>A new thread is created by the following statement: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 = new Thread(this, “Demo Thread”);</a:t>
            </a:r>
          </a:p>
        </p:txBody>
      </p:sp>
      <p:sp>
        <p:nvSpPr>
          <p:cNvPr id="25603" name="Slide Number Placeholder 4">
            <a:extLst>
              <a:ext uri="{FF2B5EF4-FFF2-40B4-BE49-F238E27FC236}">
                <a16:creationId xmlns:a16="http://schemas.microsoft.com/office/drawing/2014/main" id="{70A99DD4-BB96-958D-CA37-86740A5BF3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E335C2C-58CA-426C-8D1B-A33A6C43CB68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B7EC1D29-1BB2-BDC4-35FF-0011EE8C14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0B84143D-5B7C-7B3E-1767-E737BA124C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685800"/>
            <a:ext cx="8991600" cy="381000"/>
          </a:xfrm>
        </p:spPr>
        <p:txBody>
          <a:bodyPr/>
          <a:lstStyle/>
          <a:p>
            <a:pPr eaLnBrk="1" hangingPunct="1"/>
            <a:r>
              <a:rPr lang="en-US" altLang="en-US" sz="2000"/>
              <a:t>Extending Thread</a:t>
            </a:r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D74E8DBA-1CD0-B01A-5CBA-A06858F44A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524000"/>
            <a:ext cx="8305800" cy="2286000"/>
          </a:xfrm>
        </p:spPr>
        <p:txBody>
          <a:bodyPr/>
          <a:lstStyle/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A class that </a:t>
            </a:r>
            <a:r>
              <a:rPr lang="en-US" altLang="en-US" sz="1600" b="1">
                <a:solidFill>
                  <a:srgbClr val="FF0000"/>
                </a:solidFill>
              </a:rPr>
              <a:t>extends Thread </a:t>
            </a:r>
            <a:r>
              <a:rPr lang="en-US" altLang="en-US" sz="1600">
                <a:solidFill>
                  <a:srgbClr val="FF0000"/>
                </a:solidFill>
              </a:rPr>
              <a:t>is another way of  </a:t>
            </a:r>
            <a:r>
              <a:rPr lang="en-US" altLang="en-US" sz="1600" b="1">
                <a:solidFill>
                  <a:srgbClr val="FF0000"/>
                </a:solidFill>
              </a:rPr>
              <a:t>creating a thread </a:t>
            </a:r>
            <a:r>
              <a:rPr lang="en-US" altLang="en-US" sz="1600"/>
              <a:t>and </a:t>
            </a:r>
            <a:r>
              <a:rPr lang="en-US" altLang="en-US" sz="1600" b="1"/>
              <a:t>creating an instance </a:t>
            </a:r>
            <a:r>
              <a:rPr lang="en-US" altLang="en-US" sz="1600"/>
              <a:t>of that class.</a:t>
            </a:r>
          </a:p>
          <a:p>
            <a:pPr algn="just" eaLnBrk="1" hangingPunct="1"/>
            <a:endParaRPr lang="en-US" altLang="en-US" sz="1600"/>
          </a:p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The </a:t>
            </a:r>
            <a:r>
              <a:rPr lang="en-US" altLang="en-US" sz="1600" b="1">
                <a:solidFill>
                  <a:srgbClr val="FF0000"/>
                </a:solidFill>
              </a:rPr>
              <a:t>extending class</a:t>
            </a:r>
            <a:r>
              <a:rPr lang="en-US" altLang="en-US" sz="1600">
                <a:solidFill>
                  <a:srgbClr val="FF0000"/>
                </a:solidFill>
              </a:rPr>
              <a:t> must </a:t>
            </a:r>
            <a:r>
              <a:rPr lang="en-US" altLang="en-US" sz="1600" b="1">
                <a:solidFill>
                  <a:srgbClr val="FF0000"/>
                </a:solidFill>
              </a:rPr>
              <a:t>override the run() </a:t>
            </a:r>
            <a:r>
              <a:rPr lang="en-US" altLang="en-US" sz="1600"/>
              <a:t>method, which is the entry point for the new thread.</a:t>
            </a:r>
          </a:p>
          <a:p>
            <a:pPr algn="just" eaLnBrk="1" hangingPunct="1"/>
            <a:endParaRPr lang="en-US" altLang="en-US" sz="1600"/>
          </a:p>
          <a:p>
            <a:pPr algn="just" eaLnBrk="1" hangingPunct="1"/>
            <a:r>
              <a:rPr lang="en-US" altLang="en-US" sz="1600">
                <a:solidFill>
                  <a:srgbClr val="FF0000"/>
                </a:solidFill>
              </a:rPr>
              <a:t>It must also call the </a:t>
            </a:r>
            <a:r>
              <a:rPr lang="en-US" altLang="en-US" sz="1600" b="1">
                <a:solidFill>
                  <a:srgbClr val="FF0000"/>
                </a:solidFill>
              </a:rPr>
              <a:t>start() </a:t>
            </a:r>
            <a:r>
              <a:rPr lang="en-US" altLang="en-US" sz="1600">
                <a:solidFill>
                  <a:srgbClr val="FF0000"/>
                </a:solidFill>
              </a:rPr>
              <a:t>method to </a:t>
            </a:r>
            <a:r>
              <a:rPr lang="en-US" altLang="en-US" sz="1600" b="1">
                <a:solidFill>
                  <a:srgbClr val="FF0000"/>
                </a:solidFill>
              </a:rPr>
              <a:t>begin the execution </a:t>
            </a:r>
            <a:r>
              <a:rPr lang="en-US" altLang="en-US" sz="1600">
                <a:solidFill>
                  <a:srgbClr val="FF0000"/>
                </a:solidFill>
              </a:rPr>
              <a:t>of the </a:t>
            </a:r>
            <a:r>
              <a:rPr lang="en-US" altLang="en-US" sz="1600" b="1">
                <a:solidFill>
                  <a:srgbClr val="FF0000"/>
                </a:solidFill>
              </a:rPr>
              <a:t>new thread</a:t>
            </a:r>
            <a:r>
              <a:rPr lang="en-US" altLang="en-US" sz="1600" b="1"/>
              <a:t>.</a:t>
            </a:r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23C0CC16-6AF5-BFC3-33F2-DADCE2EAB3D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993A328-D67B-47F1-B642-0126C2DCA4E6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502C8163-B177-E6D1-ED84-8E5D2E88350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C848B6BB-9703-C2E6-892E-FA35775BD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533400"/>
            <a:ext cx="86106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// Create a second thread by extending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class   NewThread   extends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	    NewThread()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{	super("Demo Thread");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System.out.println("Child thread: " + this);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</a:t>
            </a:r>
            <a:r>
              <a:rPr lang="en-US" altLang="en-US" sz="1400">
                <a:solidFill>
                  <a:schemeClr val="bg2"/>
                </a:solidFill>
              </a:rPr>
              <a:t>start(); </a:t>
            </a:r>
            <a:r>
              <a:rPr lang="en-US" altLang="en-US" sz="1400"/>
              <a:t>// Start the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	     public   void   run()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	    {	try {</a:t>
            </a:r>
            <a:r>
              <a:rPr lang="nn-NO" altLang="en-US" sz="1400"/>
              <a:t>	for(int  i = 5; i &gt; 0; i--)</a:t>
            </a:r>
          </a:p>
          <a:p>
            <a:pPr eaLnBrk="1" hangingPunct="1">
              <a:buFontTx/>
              <a:buNone/>
            </a:pPr>
            <a:r>
              <a:rPr lang="nn-NO" altLang="en-US" sz="1400"/>
              <a:t>                                     {        </a:t>
            </a:r>
            <a:r>
              <a:rPr lang="en-US" altLang="en-US" sz="1400"/>
              <a:t>System.out.println("Child Thread: " + i);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	          Thread.sleep(500);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       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  catch (InterruptedException   e)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{	System.out.println("Child interrupted.");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	       System.out.println("Exiting child thread.");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}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}</a:t>
            </a:r>
          </a:p>
          <a:p>
            <a:pPr eaLnBrk="1" hangingPunct="1">
              <a:buFontTx/>
              <a:buNone/>
            </a:pPr>
            <a:endParaRPr lang="en-US" altLang="en-US" sz="1600"/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E171113D-5D81-0AD6-A741-3B10EB4FA3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DCC67CCB-017D-4CFF-B8DA-6ED2A17B2EA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AF5EF360-BF0A-A3F3-2B2A-9645A6E03040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>
            <a:extLst>
              <a:ext uri="{FF2B5EF4-FFF2-40B4-BE49-F238E27FC236}">
                <a16:creationId xmlns:a16="http://schemas.microsoft.com/office/drawing/2014/main" id="{7DB63630-AB1E-5CDB-C438-FD10DF635B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533400"/>
            <a:ext cx="853440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class   ExtendThread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{	     public   static   void   main(String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     {	</a:t>
            </a:r>
            <a:r>
              <a:rPr lang="en-US" altLang="en-US" sz="1400">
                <a:solidFill>
                  <a:schemeClr val="bg2"/>
                </a:solidFill>
              </a:rPr>
              <a:t>new   NewThread(); </a:t>
            </a:r>
            <a:r>
              <a:rPr lang="en-US" altLang="en-US" sz="1400"/>
              <a:t>// create a new thread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try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{</a:t>
            </a:r>
            <a:r>
              <a:rPr lang="nn-NO" altLang="en-US" sz="1400"/>
              <a:t>           for(int i = 5; i &gt; 0; i--)</a:t>
            </a:r>
          </a:p>
          <a:p>
            <a:pPr eaLnBrk="1" hangingPunct="1">
              <a:buFontTx/>
              <a:buNone/>
            </a:pPr>
            <a:r>
              <a:rPr lang="nn-NO" altLang="en-US" sz="1400"/>
              <a:t>                              {</a:t>
            </a:r>
            <a:r>
              <a:rPr lang="en-US" altLang="en-US" sz="1400"/>
              <a:t>	System.out.println("Main Thread: " + i);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Thread.sleep(1000);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  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}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catch (InterruptedException   e)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{     System.out.println("Main thread interrupted.");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    System.out.println("Main thread exiting.");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	     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  <a:p>
            <a:pPr eaLnBrk="1" hangingPunct="1">
              <a:buFontTx/>
              <a:buNone/>
            </a:pPr>
            <a:endParaRPr lang="en-US" altLang="en-US" sz="1400"/>
          </a:p>
          <a:p>
            <a:pPr eaLnBrk="1" hangingPunct="1">
              <a:buFontTx/>
              <a:buNone/>
            </a:pPr>
            <a:r>
              <a:rPr lang="en-US" altLang="en-US" sz="1400"/>
              <a:t>Here the call to </a:t>
            </a:r>
            <a:r>
              <a:rPr lang="en-US" altLang="en-US" sz="1400" b="1"/>
              <a:t>super()</a:t>
            </a:r>
            <a:r>
              <a:rPr lang="en-US" altLang="en-US" sz="1400"/>
              <a:t> inside </a:t>
            </a:r>
            <a:r>
              <a:rPr lang="en-US" altLang="en-US" sz="1400" b="1"/>
              <a:t>NewThread</a:t>
            </a:r>
            <a:r>
              <a:rPr lang="en-US" altLang="en-US" sz="1400"/>
              <a:t> invokes the following form of the </a:t>
            </a:r>
            <a:r>
              <a:rPr lang="en-US" altLang="en-US" sz="1400" b="1"/>
              <a:t>Thread constructor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                       public Thread(String  threadName)</a:t>
            </a:r>
          </a:p>
        </p:txBody>
      </p:sp>
      <p:sp>
        <p:nvSpPr>
          <p:cNvPr id="28675" name="Slide Number Placeholder 4">
            <a:extLst>
              <a:ext uri="{FF2B5EF4-FFF2-40B4-BE49-F238E27FC236}">
                <a16:creationId xmlns:a16="http://schemas.microsoft.com/office/drawing/2014/main" id="{9ABD2EB5-26E2-1507-4E59-DD0B1C860FA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20AC10F-222E-476C-A616-32E43ED47B1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9F14185-42D0-177A-95CE-C6574546E395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B9479893-98D3-02AD-9C21-CD59F676D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610600" cy="304800"/>
          </a:xfrm>
        </p:spPr>
        <p:txBody>
          <a:bodyPr/>
          <a:lstStyle/>
          <a:p>
            <a:pPr eaLnBrk="1" hangingPunct="1"/>
            <a:r>
              <a:rPr lang="en-US" altLang="en-US" sz="2000"/>
              <a:t>Creating multiple threads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03A133BB-D86C-AFE1-FC5A-57009BE5F0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914400"/>
            <a:ext cx="85344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NewThread   implements   Runnable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{	   String   name; // name of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Thread   t;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NewThread(String    threadname)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{	name = threadname;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t = new   Thread(this, name);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	               System.out.println("New thread: " + t);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t.start(); // Start the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public   void   run()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{	try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{</a:t>
            </a:r>
            <a:r>
              <a:rPr lang="nn-NO" altLang="en-US" sz="1200"/>
              <a:t>         for(int   i = 5; i &gt; 0; i--) </a:t>
            </a:r>
          </a:p>
          <a:p>
            <a:pPr eaLnBrk="1" hangingPunct="1">
              <a:buFontTx/>
              <a:buNone/>
            </a:pPr>
            <a:r>
              <a:rPr lang="nn-NO" altLang="en-US" sz="1200"/>
              <a:t>                             {</a:t>
            </a:r>
            <a:r>
              <a:rPr lang="en-US" altLang="en-US" sz="1200"/>
              <a:t>	System.out.println(name + ": " + i);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	Thread.sleep(1000);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catch (InterruptedException   e)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{ 	System.out.println(name + "Interrupted");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	System.out.println(name + " exiting.");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}       }</a:t>
            </a: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A3663C96-755F-03F0-6653-7AEB219738E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E7DFC3E4-EA05-4BEA-A992-B71F31E6EB5F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1" name="Rectangle 4">
            <a:extLst>
              <a:ext uri="{FF2B5EF4-FFF2-40B4-BE49-F238E27FC236}">
                <a16:creationId xmlns:a16="http://schemas.microsoft.com/office/drawing/2014/main" id="{6764E6CD-4380-030B-E403-E8CDFE9874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248400"/>
            <a:ext cx="9144000" cy="6096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506AF942-D9EE-7CA0-6DC3-7BA0F5BD6F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533400"/>
            <a:ext cx="85344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400"/>
              <a:t>class   MultiThreadDemo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public   static   void   main(String   args[])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    {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   NewThread("One"); // start threads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   NewThread("Two");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new   NewThread("Three");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try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                 // wait for other threads to end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	Thread.sleep(10000);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catch (InterruptedException   e) 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{	System.out.println("Main thread Interrupted");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	System.out.println("Main thread exiting.");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	}</a:t>
            </a:r>
          </a:p>
          <a:p>
            <a:pPr eaLnBrk="1" hangingPunct="1">
              <a:buFontTx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30723" name="Slide Number Placeholder 4">
            <a:extLst>
              <a:ext uri="{FF2B5EF4-FFF2-40B4-BE49-F238E27FC236}">
                <a16:creationId xmlns:a16="http://schemas.microsoft.com/office/drawing/2014/main" id="{C9A3CB9A-FECD-2A7C-B0C7-49C02F8A5D2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66FC900-6729-470C-A44E-A96AC41EFC94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9938A7B7-5D57-BF31-64F7-76871FB2D2DD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DC72016C-BF72-7DBD-A27D-73A4784B9E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88" y="838200"/>
            <a:ext cx="3490912" cy="5070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 MyThread  </a:t>
            </a:r>
            <a:r>
              <a:rPr lang="en-US" altLang="en-US" sz="1400">
                <a:solidFill>
                  <a:srgbClr val="FF0000"/>
                </a:solidFill>
              </a:rPr>
              <a:t>extends Thread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public void run()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{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prg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public static void main(String args[])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 MyThread   t = new MyThread();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  </a:t>
            </a:r>
            <a:r>
              <a:rPr lang="en-US" altLang="en-US" sz="1400">
                <a:solidFill>
                  <a:srgbClr val="FF0000"/>
                </a:solidFill>
              </a:rPr>
              <a:t>t.start();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4D793F-503E-794E-6E02-F80E0C7DB64F}"/>
              </a:ext>
            </a:extLst>
          </p:cNvPr>
          <p:cNvSpPr txBox="1">
            <a:spLocks/>
          </p:cNvSpPr>
          <p:nvPr/>
        </p:nvSpPr>
        <p:spPr bwMode="auto">
          <a:xfrm>
            <a:off x="4953000" y="685800"/>
            <a:ext cx="3490913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class 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  </a:t>
            </a:r>
            <a:r>
              <a:rPr lang="en-US" sz="1400" kern="0" dirty="0">
                <a:solidFill>
                  <a:srgbClr val="FF0000"/>
                </a:solidFill>
                <a:latin typeface="+mn-lt"/>
              </a:rPr>
              <a:t>extends Thread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solidFill>
                  <a:srgbClr val="FF0000"/>
                </a:solidFill>
                <a:latin typeface="+mn-lt"/>
              </a:rPr>
              <a:t>              start();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public void run()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sz="1400" kern="0" dirty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class </a:t>
            </a:r>
            <a:r>
              <a:rPr lang="en-US" sz="1400" kern="0" dirty="0" err="1">
                <a:latin typeface="+mn-lt"/>
              </a:rPr>
              <a:t>prg</a:t>
            </a:r>
            <a:endParaRPr lang="en-US" sz="1400" kern="0" dirty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public static void main(String </a:t>
            </a:r>
            <a:r>
              <a:rPr lang="en-US" sz="1400" kern="0" dirty="0" err="1">
                <a:latin typeface="+mn-lt"/>
              </a:rPr>
              <a:t>args</a:t>
            </a:r>
            <a:r>
              <a:rPr lang="en-US" sz="1400" kern="0" dirty="0">
                <a:latin typeface="+mn-lt"/>
              </a:rPr>
              <a:t>[])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     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   t = new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();  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}</a:t>
            </a:r>
          </a:p>
        </p:txBody>
      </p:sp>
      <p:sp>
        <p:nvSpPr>
          <p:cNvPr id="31748" name="Rectangle 5">
            <a:extLst>
              <a:ext uri="{FF2B5EF4-FFF2-40B4-BE49-F238E27FC236}">
                <a16:creationId xmlns:a16="http://schemas.microsoft.com/office/drawing/2014/main" id="{288BA9FF-C6A9-4E60-302C-25DB25E749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1749" name="Straight Connector 7">
            <a:extLst>
              <a:ext uri="{FF2B5EF4-FFF2-40B4-BE49-F238E27FC236}">
                <a16:creationId xmlns:a16="http://schemas.microsoft.com/office/drawing/2014/main" id="{E532120B-672D-82BB-8F8F-CC247E263DF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409701" y="3314700"/>
            <a:ext cx="5562600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B90B94F7-5054-4D71-9582-7B28083C87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088" y="838200"/>
            <a:ext cx="3490912" cy="50704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 MyThread  </a:t>
            </a:r>
            <a:r>
              <a:rPr lang="en-US" altLang="en-US" sz="1400">
                <a:solidFill>
                  <a:srgbClr val="FF0000"/>
                </a:solidFill>
              </a:rPr>
              <a:t>implements Runnable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public void run()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{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40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class prg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public static void main(String args[])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 MyThread   t = new MyThread();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Thread  t1 = new Thread(t);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      </a:t>
            </a:r>
            <a:r>
              <a:rPr lang="en-US" altLang="en-US" sz="1400">
                <a:solidFill>
                  <a:srgbClr val="FF0000"/>
                </a:solidFill>
              </a:rPr>
              <a:t>t1.start();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400"/>
              <a:t>}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DE7BD8-8EC5-7EB6-37F4-170EBAA90728}"/>
              </a:ext>
            </a:extLst>
          </p:cNvPr>
          <p:cNvSpPr txBox="1">
            <a:spLocks/>
          </p:cNvSpPr>
          <p:nvPr/>
        </p:nvSpPr>
        <p:spPr bwMode="auto">
          <a:xfrm>
            <a:off x="4953000" y="685800"/>
            <a:ext cx="3490913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rIns="0"/>
          <a:lstStyle/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class 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  </a:t>
            </a:r>
            <a:r>
              <a:rPr lang="en-US" sz="1400" kern="0" dirty="0">
                <a:solidFill>
                  <a:srgbClr val="FF0000"/>
                </a:solidFill>
                <a:latin typeface="+mn-lt"/>
              </a:rPr>
              <a:t>implements Runnable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Thread t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       t = new Thread(this);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       </a:t>
            </a:r>
            <a:r>
              <a:rPr lang="en-US" sz="1400" kern="0" dirty="0" err="1">
                <a:latin typeface="+mn-lt"/>
              </a:rPr>
              <a:t>t.start</a:t>
            </a:r>
            <a:r>
              <a:rPr lang="en-US" sz="1400" kern="0" dirty="0">
                <a:latin typeface="+mn-lt"/>
              </a:rPr>
              <a:t>();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public void run()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endParaRPr lang="en-US" sz="1400" kern="0" dirty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class </a:t>
            </a:r>
            <a:r>
              <a:rPr lang="en-US" sz="1400" kern="0" dirty="0" err="1">
                <a:latin typeface="+mn-lt"/>
              </a:rPr>
              <a:t>prg</a:t>
            </a:r>
            <a:endParaRPr lang="en-US" sz="1400" kern="0" dirty="0">
              <a:latin typeface="+mn-lt"/>
            </a:endParaRP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public static void main(String </a:t>
            </a:r>
            <a:r>
              <a:rPr lang="en-US" sz="1400" kern="0" dirty="0" err="1">
                <a:latin typeface="+mn-lt"/>
              </a:rPr>
              <a:t>args</a:t>
            </a:r>
            <a:r>
              <a:rPr lang="en-US" sz="1400" kern="0" dirty="0">
                <a:latin typeface="+mn-lt"/>
              </a:rPr>
              <a:t>[])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{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      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   t = new </a:t>
            </a:r>
            <a:r>
              <a:rPr lang="en-US" sz="1400" kern="0" dirty="0" err="1">
                <a:latin typeface="+mn-lt"/>
              </a:rPr>
              <a:t>MyThread</a:t>
            </a:r>
            <a:r>
              <a:rPr lang="en-US" sz="1400" kern="0" dirty="0">
                <a:latin typeface="+mn-lt"/>
              </a:rPr>
              <a:t>();  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     }</a:t>
            </a:r>
          </a:p>
          <a:p>
            <a:pPr marL="190500" indent="-190500">
              <a:spcBef>
                <a:spcPct val="40000"/>
              </a:spcBef>
              <a:buClr>
                <a:schemeClr val="accent1"/>
              </a:buClr>
              <a:buFont typeface="Wingdings" pitchFamily="2" charset="2"/>
              <a:buNone/>
              <a:defRPr/>
            </a:pPr>
            <a:r>
              <a:rPr lang="en-US" sz="1400" kern="0" dirty="0">
                <a:latin typeface="+mn-lt"/>
              </a:rPr>
              <a:t>}</a:t>
            </a:r>
          </a:p>
        </p:txBody>
      </p:sp>
      <p:sp>
        <p:nvSpPr>
          <p:cNvPr id="32772" name="Rectangle 5">
            <a:extLst>
              <a:ext uri="{FF2B5EF4-FFF2-40B4-BE49-F238E27FC236}">
                <a16:creationId xmlns:a16="http://schemas.microsoft.com/office/drawing/2014/main" id="{907CE05C-5C10-5D37-BD09-51257834F161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2773" name="Straight Connector 7">
            <a:extLst>
              <a:ext uri="{FF2B5EF4-FFF2-40B4-BE49-F238E27FC236}">
                <a16:creationId xmlns:a16="http://schemas.microsoft.com/office/drawing/2014/main" id="{AF1DFF15-974C-7B28-05BE-F48008CCC243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409701" y="3314700"/>
            <a:ext cx="5562600" cy="31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356D9845-462A-7D27-7717-D6B95837E2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609600"/>
            <a:ext cx="8458200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>
                <a:solidFill>
                  <a:schemeClr val="accent1"/>
                </a:solidFill>
              </a:rPr>
              <a:t>Using isAlive() and join() 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None/>
            </a:pPr>
            <a:r>
              <a:rPr lang="en-US" altLang="en-US" sz="1600" b="1"/>
              <a:t>Two ways to determine whether a thread has finished or not are:</a:t>
            </a:r>
          </a:p>
          <a:p>
            <a:pPr eaLnBrk="1" hangingPunct="1">
              <a:buFontTx/>
              <a:buNone/>
            </a:pPr>
            <a:endParaRPr lang="en-US" altLang="en-US" sz="1600" b="1"/>
          </a:p>
          <a:p>
            <a:pPr eaLnBrk="1" hangingPunct="1">
              <a:buFontTx/>
              <a:buAutoNum type="arabicPeriod"/>
            </a:pPr>
            <a:r>
              <a:rPr lang="en-US" altLang="en-US" sz="1600"/>
              <a:t>By calling </a:t>
            </a:r>
            <a:r>
              <a:rPr lang="en-US" altLang="en-US" sz="1600" b="1"/>
              <a:t>isAlive() </a:t>
            </a:r>
            <a:r>
              <a:rPr lang="en-US" altLang="en-US" sz="1600"/>
              <a:t>method defined by </a:t>
            </a:r>
            <a:r>
              <a:rPr lang="en-US" altLang="en-US" sz="1600" b="1"/>
              <a:t>Thread</a:t>
            </a:r>
            <a:r>
              <a:rPr lang="en-US" altLang="en-US" sz="1600"/>
              <a:t> on the thread.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</a:t>
            </a:r>
            <a:r>
              <a:rPr lang="en-US" altLang="en-US" sz="1600" b="1"/>
              <a:t>General form: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              </a:t>
            </a:r>
            <a:r>
              <a:rPr lang="en-US" altLang="en-US" sz="1600">
                <a:solidFill>
                  <a:srgbClr val="FF0000"/>
                </a:solidFill>
              </a:rPr>
              <a:t>final   boolean   isAlive()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It </a:t>
            </a:r>
            <a:r>
              <a:rPr lang="en-US" altLang="en-US" sz="1600" b="1"/>
              <a:t>returns true </a:t>
            </a:r>
            <a:r>
              <a:rPr lang="en-US" altLang="en-US" sz="1600"/>
              <a:t>if the thread upon which it is called is </a:t>
            </a:r>
            <a:r>
              <a:rPr lang="en-US" altLang="en-US" sz="1600" b="1"/>
              <a:t>running,</a:t>
            </a:r>
            <a:r>
              <a:rPr lang="en-US" altLang="en-US" sz="1600"/>
              <a:t> else </a:t>
            </a:r>
            <a:r>
              <a:rPr lang="en-US" altLang="en-US" sz="1600" b="1"/>
              <a:t>returns false</a:t>
            </a:r>
            <a:r>
              <a:rPr lang="en-US" altLang="en-US" sz="1600"/>
              <a:t>.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2.   By calling the method </a:t>
            </a:r>
            <a:r>
              <a:rPr lang="en-US" altLang="en-US" sz="1600" b="1"/>
              <a:t>join()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 General form:</a:t>
            </a:r>
          </a:p>
          <a:p>
            <a:pPr eaLnBrk="1" hangingPunct="1">
              <a:buFontTx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                                </a:t>
            </a:r>
            <a:r>
              <a:rPr lang="en-US" altLang="en-US" sz="1600">
                <a:solidFill>
                  <a:srgbClr val="FF0000"/>
                </a:solidFill>
              </a:rPr>
              <a:t>final   void   join()   throws   InterruptedException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</a:t>
            </a:r>
            <a:r>
              <a:rPr lang="en-US" altLang="en-US" sz="1600"/>
              <a:t>This method waits until the thread on which it is called terminates.</a:t>
            </a: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1450DA8E-F80C-FD5C-DA53-E4625E7C73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4107BCD-1CB9-49C7-BB5D-3F52331B769F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4BE0A6DD-50B6-FB6C-FB0F-3C17A8416099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67D44528-388C-D480-534E-AA6AD30038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304800"/>
          </a:xfrm>
        </p:spPr>
        <p:txBody>
          <a:bodyPr/>
          <a:lstStyle/>
          <a:p>
            <a:pPr eaLnBrk="1" hangingPunct="1"/>
            <a:endParaRPr lang="en-US" altLang="en-US" sz="3200"/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314F487A-0EAA-49FA-7DF3-2A5D818DE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533400"/>
            <a:ext cx="83058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// Using join() to wait for threads to finish.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class   NewThread   </a:t>
            </a:r>
            <a:r>
              <a:rPr lang="en-US" altLang="en-US" sz="1200">
                <a:solidFill>
                  <a:srgbClr val="FF0000"/>
                </a:solidFill>
              </a:rPr>
              <a:t>extends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{	       String   name; // name of thread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	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NewThread(String   threadname)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{          name = threadname;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  System.out.println("New thread: " + t);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start();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}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public   void   run()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{       </a:t>
            </a:r>
            <a:r>
              <a:rPr lang="en-US" altLang="en-US" sz="1200"/>
              <a:t>try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{        </a:t>
            </a:r>
            <a:r>
              <a:rPr lang="nn-NO" altLang="en-US" sz="1200">
                <a:solidFill>
                  <a:srgbClr val="FF0000"/>
                </a:solidFill>
              </a:rPr>
              <a:t>for(int   i = 5; i &gt; 0; i--) </a:t>
            </a:r>
          </a:p>
          <a:p>
            <a:pPr eaLnBrk="1" hangingPunct="1">
              <a:buFontTx/>
              <a:buNone/>
            </a:pPr>
            <a:r>
              <a:rPr lang="nn-NO" altLang="en-US" sz="1200">
                <a:solidFill>
                  <a:srgbClr val="FF0000"/>
                </a:solidFill>
              </a:rPr>
              <a:t>                      {              </a:t>
            </a:r>
            <a:r>
              <a:rPr lang="en-US" altLang="en-US" sz="1200">
                <a:solidFill>
                  <a:srgbClr val="FF0000"/>
                </a:solidFill>
              </a:rPr>
              <a:t>System.out.println(name + ": " + i);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            Thread.sleep(1000);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catch (InterruptedException   e)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{         System.out.println(name + " interrupted.");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System.out.println(name + " exiting.");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</a:t>
            </a:r>
            <a:r>
              <a:rPr lang="en-US" altLang="en-US" sz="1200">
                <a:solidFill>
                  <a:srgbClr val="FF0000"/>
                </a:solidFill>
              </a:rPr>
              <a:t> } 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</a:t>
            </a:r>
            <a:r>
              <a:rPr lang="en-US" altLang="en-US" sz="1200"/>
              <a:t>}</a:t>
            </a:r>
          </a:p>
        </p:txBody>
      </p:sp>
      <p:sp>
        <p:nvSpPr>
          <p:cNvPr id="34820" name="Slide Number Placeholder 4">
            <a:extLst>
              <a:ext uri="{FF2B5EF4-FFF2-40B4-BE49-F238E27FC236}">
                <a16:creationId xmlns:a16="http://schemas.microsoft.com/office/drawing/2014/main" id="{AC812100-2CF2-1185-09F7-4AF216E3A8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84FF7D1C-B66E-4D7D-9A0E-1BA930A3898B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85A202EF-C357-C1F1-3A3C-1BAF93CE11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927ECA6F-FDC7-E67E-5A34-47B88BA2B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991600" cy="304800"/>
          </a:xfrm>
        </p:spPr>
        <p:txBody>
          <a:bodyPr/>
          <a:lstStyle/>
          <a:p>
            <a:pPr eaLnBrk="1" hangingPunct="1"/>
            <a:r>
              <a:rPr lang="en-US" altLang="en-US" sz="3200"/>
              <a:t>`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B51BEAD1-62DF-DDF9-060D-4CB7996473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457200"/>
            <a:ext cx="86106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1200"/>
              <a:t>class   DemoJoin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{       public  static   void   main(String   args[])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{          NewThread   ob1 = new   NewThread("One");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NewThread   ob2 = new   NewThread("Two");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NewThread   ob3 = new   NewThread("Three");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System.out.println("Thread One is alive: “ + </a:t>
            </a:r>
            <a:r>
              <a:rPr lang="en-US" altLang="en-US" sz="1200">
                <a:solidFill>
                  <a:srgbClr val="FF0000"/>
                </a:solidFill>
              </a:rPr>
              <a:t>ob1.isAlive()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 System.out.println("Thread Two is alive: “ + </a:t>
            </a:r>
            <a:r>
              <a:rPr lang="en-US" altLang="en-US" sz="1200">
                <a:solidFill>
                  <a:srgbClr val="FF0000"/>
                </a:solidFill>
              </a:rPr>
              <a:t>ob2.isAlive()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System.out.println("Thread Three is alive: “ + </a:t>
            </a:r>
            <a:r>
              <a:rPr lang="en-US" altLang="en-US" sz="1200">
                <a:solidFill>
                  <a:srgbClr val="FF0000"/>
                </a:solidFill>
              </a:rPr>
              <a:t>ob3.isAlive()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 try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 {        System.out.println("Waiting for threads to finish.");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ob1.join();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ob2.join();</a:t>
            </a:r>
          </a:p>
          <a:p>
            <a:pPr eaLnBrk="1" hangingPunct="1">
              <a:buFontTx/>
              <a:buNone/>
            </a:pPr>
            <a:r>
              <a:rPr lang="en-US" altLang="en-US" sz="1200">
                <a:solidFill>
                  <a:srgbClr val="FF0000"/>
                </a:solidFill>
              </a:rPr>
              <a:t>                         ob3.join();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  }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catch (InterruptedException   e) {       System.out.println("Main thread Interrupted");      }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System.out.println("Thread One is alive: “ + </a:t>
            </a:r>
            <a:r>
              <a:rPr lang="en-US" altLang="en-US" sz="1200">
                <a:solidFill>
                  <a:srgbClr val="FF0000"/>
                </a:solidFill>
              </a:rPr>
              <a:t>ob1.isAlive() 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 System.out.println("Thread Two is alive: “ + </a:t>
            </a:r>
            <a:r>
              <a:rPr lang="en-US" altLang="en-US" sz="1200">
                <a:solidFill>
                  <a:srgbClr val="FF0000"/>
                </a:solidFill>
              </a:rPr>
              <a:t>ob2.isAlive() 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System.out.println("Thread Three is alive: “ + </a:t>
            </a:r>
            <a:r>
              <a:rPr lang="en-US" altLang="en-US" sz="1200">
                <a:solidFill>
                  <a:srgbClr val="FF0000"/>
                </a:solidFill>
              </a:rPr>
              <a:t>ob3.isAlive() </a:t>
            </a:r>
            <a:r>
              <a:rPr lang="en-US" altLang="en-US" sz="1200"/>
              <a:t>);</a:t>
            </a:r>
          </a:p>
          <a:p>
            <a:pPr eaLnBrk="1" hangingPunct="1">
              <a:buFontTx/>
              <a:buNone/>
            </a:pPr>
            <a:r>
              <a:rPr lang="en-US" altLang="en-US" sz="1200"/>
              <a:t>              System.out.println("Main thread exiting.");     }  }</a:t>
            </a: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A7C5AF6D-BE06-663A-3BCC-5867F48A236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F7BE6DC-CF13-4CE5-97F7-90A710C19D5E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7EE61070-958D-F371-7EAC-F5BD62DFF8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C1DD409F-0F9A-AE27-C878-56DB6D70B1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33400"/>
            <a:ext cx="8991600" cy="457200"/>
          </a:xfrm>
        </p:spPr>
        <p:txBody>
          <a:bodyPr/>
          <a:lstStyle/>
          <a:p>
            <a:pPr eaLnBrk="1" hangingPunct="1"/>
            <a:r>
              <a:rPr lang="en-US" altLang="en-US" sz="2000"/>
              <a:t>Thread priorities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ADC17282-94B6-85E5-3B4B-7C714E0F3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914400"/>
            <a:ext cx="8534400" cy="3276600"/>
          </a:xfrm>
        </p:spPr>
        <p:txBody>
          <a:bodyPr/>
          <a:lstStyle/>
          <a:p>
            <a:pPr eaLnBrk="1" hangingPunct="1"/>
            <a:r>
              <a:rPr lang="en-US" altLang="en-US" sz="1600"/>
              <a:t>Used  by the thread scheduler to decide when each thread should be allowed to run.</a:t>
            </a:r>
          </a:p>
          <a:p>
            <a:pPr eaLnBrk="1" hangingPunct="1"/>
            <a:r>
              <a:rPr lang="en-US" altLang="en-US" sz="1600">
                <a:solidFill>
                  <a:srgbClr val="FF0000"/>
                </a:solidFill>
              </a:rPr>
              <a:t>Higher priority threads get more CPU time than lower priority threads(Theoritically).</a:t>
            </a:r>
            <a:endParaRPr lang="en-US" altLang="en-US" sz="1600"/>
          </a:p>
          <a:p>
            <a:pPr eaLnBrk="1" hangingPunct="1"/>
            <a:r>
              <a:rPr lang="en-US" altLang="en-US" sz="1600"/>
              <a:t>To set a thread’s priority the method </a:t>
            </a:r>
            <a:r>
              <a:rPr lang="en-US" altLang="en-US" sz="1600" b="1"/>
              <a:t>setPriority()  </a:t>
            </a:r>
            <a:r>
              <a:rPr lang="en-US" altLang="en-US" sz="1600"/>
              <a:t>which is a member of </a:t>
            </a:r>
            <a:r>
              <a:rPr lang="en-US" altLang="en-US" sz="1600" b="1"/>
              <a:t>Thread</a:t>
            </a:r>
            <a:r>
              <a:rPr lang="en-US" altLang="en-US" sz="1600"/>
              <a:t> is used.</a:t>
            </a:r>
          </a:p>
          <a:p>
            <a:pPr eaLnBrk="1" hangingPunct="1">
              <a:buFontTx/>
              <a:buNone/>
            </a:pPr>
            <a:r>
              <a:rPr lang="en-US" altLang="en-US" sz="1600" b="1"/>
              <a:t>       General form: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                        </a:t>
            </a:r>
          </a:p>
          <a:p>
            <a:pPr eaLnBrk="1" hangingPunct="1"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                               final   void   setPriority(int    level)</a:t>
            </a:r>
          </a:p>
          <a:p>
            <a:pPr eaLnBrk="1" hangingPunct="1">
              <a:buFontTx/>
              <a:buNone/>
            </a:pPr>
            <a:endParaRPr lang="en-US" altLang="en-US" sz="1600"/>
          </a:p>
          <a:p>
            <a:pPr eaLnBrk="1" hangingPunct="1">
              <a:buFontTx/>
              <a:buNone/>
            </a:pPr>
            <a:r>
              <a:rPr lang="en-US" altLang="en-US" sz="1600"/>
              <a:t>value of level should be within the </a:t>
            </a:r>
            <a:r>
              <a:rPr lang="en-US" altLang="en-US" sz="1600" b="1"/>
              <a:t>MIN_PRIORITY</a:t>
            </a:r>
            <a:r>
              <a:rPr lang="en-US" altLang="en-US" sz="1600"/>
              <a:t> and </a:t>
            </a:r>
            <a:r>
              <a:rPr lang="en-US" altLang="en-US" sz="1600" b="1"/>
              <a:t>MAX_PRIORITY</a:t>
            </a:r>
            <a:r>
              <a:rPr lang="en-US" altLang="en-US" sz="1600"/>
              <a:t>. ie, between </a:t>
            </a:r>
            <a:r>
              <a:rPr lang="en-US" altLang="en-US" sz="1600" b="1"/>
              <a:t>1 to 10</a:t>
            </a:r>
            <a:r>
              <a:rPr lang="en-US" altLang="en-US" sz="1600"/>
              <a:t>.</a:t>
            </a:r>
          </a:p>
          <a:p>
            <a:pPr eaLnBrk="1" hangingPunct="1">
              <a:buFontTx/>
              <a:buNone/>
            </a:pPr>
            <a:r>
              <a:rPr lang="en-US" altLang="en-US" sz="1600"/>
              <a:t>To return a thread to </a:t>
            </a:r>
            <a:r>
              <a:rPr lang="en-US" altLang="en-US" sz="1600" b="1"/>
              <a:t>default priority</a:t>
            </a:r>
            <a:r>
              <a:rPr lang="en-US" altLang="en-US" sz="1600"/>
              <a:t>, specify </a:t>
            </a:r>
            <a:r>
              <a:rPr lang="en-US" altLang="en-US" sz="1600" b="1"/>
              <a:t>NORM_PRIORITY,</a:t>
            </a:r>
            <a:r>
              <a:rPr lang="en-US" altLang="en-US" sz="1600"/>
              <a:t> which is currently </a:t>
            </a:r>
            <a:r>
              <a:rPr lang="en-US" altLang="en-US" sz="1600" b="1"/>
              <a:t>5</a:t>
            </a:r>
            <a:r>
              <a:rPr lang="en-US" altLang="en-US" sz="1600"/>
              <a:t>.</a:t>
            </a:r>
          </a:p>
          <a:p>
            <a:pPr eaLnBrk="1" hangingPunct="1"/>
            <a:endParaRPr lang="en-US" altLang="en-US" sz="1600"/>
          </a:p>
          <a:p>
            <a:pPr eaLnBrk="1" hangingPunct="1">
              <a:buFontTx/>
              <a:buNone/>
            </a:pPr>
            <a:endParaRPr lang="en-US" altLang="en-US" sz="1600"/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35C24BA7-B045-9899-1260-FA6F1E2E185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B63F7B0-282E-42DE-B4F4-D6654A21B970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58AB475E-1597-584F-94F8-E81D9B9E56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D4E9074-A787-87FC-943D-64ECA5C8A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05288"/>
            <a:ext cx="8534400" cy="1905000"/>
          </a:xfrm>
          <a:prstGeom prst="rect">
            <a:avLst/>
          </a:prstGeom>
          <a:noFill/>
          <a:ln>
            <a:noFill/>
          </a:ln>
        </p:spPr>
        <p:txBody>
          <a:bodyPr lIns="0" rIns="0"/>
          <a:lstStyle>
            <a:lvl1pPr marL="190500" indent="-19050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1000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+mn-lt"/>
              </a:defRPr>
            </a:lvl2pPr>
            <a:lvl3pPr marL="561975" indent="-179388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+mn-lt"/>
              </a:defRPr>
            </a:lvl3pPr>
            <a:lvl4pPr marL="752475" indent="-18891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+mn-lt"/>
              </a:defRPr>
            </a:lvl4pPr>
            <a:lvl5pPr marL="962025" indent="-207963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14192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18764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23336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2790825" indent="-207963" algn="l" rtl="0" eaLnBrk="1" fontAlgn="base" hangingPunct="1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n-US" altLang="en-US" sz="1600" kern="0"/>
          </a:p>
          <a:p>
            <a:pPr eaLnBrk="1" hangingPunct="1">
              <a:defRPr/>
            </a:pPr>
            <a:r>
              <a:rPr lang="en-US" altLang="en-US" sz="1600" kern="0"/>
              <a:t>To get the value of current priority setting we can call the </a:t>
            </a:r>
            <a:r>
              <a:rPr lang="en-US" altLang="en-US" sz="1600" b="1" kern="0"/>
              <a:t>getPriority() </a:t>
            </a:r>
            <a:r>
              <a:rPr lang="en-US" altLang="en-US" sz="1600" kern="0"/>
              <a:t>method defined by the </a:t>
            </a:r>
            <a:r>
              <a:rPr lang="en-US" altLang="en-US" sz="1600" b="1" kern="0"/>
              <a:t>Thread</a:t>
            </a:r>
            <a:r>
              <a:rPr lang="en-US" altLang="en-US" sz="1600" kern="0"/>
              <a:t>.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1600" b="1" kern="0"/>
              <a:t>       General form:</a:t>
            </a:r>
          </a:p>
          <a:p>
            <a:pPr eaLnBrk="1" hangingPunct="1">
              <a:buFontTx/>
              <a:buNone/>
              <a:defRPr/>
            </a:pPr>
            <a:r>
              <a:rPr lang="en-US" altLang="en-US" sz="1600" kern="0">
                <a:solidFill>
                  <a:srgbClr val="FF0000"/>
                </a:solidFill>
              </a:rPr>
              <a:t>                        final int getPriority()</a:t>
            </a:r>
          </a:p>
          <a:p>
            <a:pPr eaLnBrk="1" hangingPunct="1">
              <a:buFontTx/>
              <a:buNone/>
              <a:defRPr/>
            </a:pPr>
            <a:endParaRPr lang="en-US" altLang="en-US" sz="1600" kern="0" dirty="0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76495155-A0CF-00F1-93DF-802E040CDD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7239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9616A781-8EBC-4DAE-B75C-22B99CD6CE5C}" type="slidenum">
              <a:rPr lang="en-US" altLang="en-US" sz="2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C6C614B-4065-CA29-BDA5-B1B29765F3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6122988"/>
            <a:ext cx="9144000" cy="73501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folHlink"/>
              </a:gs>
            </a:gsLst>
            <a:lin ang="0" scaled="1"/>
          </a:gra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lIns="180000" tIns="0" rIns="0" bIns="0" anchor="ctr"/>
          <a:lstStyle>
            <a:lvl1pPr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01688">
              <a:spcBef>
                <a:spcPct val="40000"/>
              </a:spcBef>
              <a:buClr>
                <a:schemeClr val="accent1"/>
              </a:buClr>
              <a:buChar char="-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01688">
              <a:spcBef>
                <a:spcPct val="40000"/>
              </a:spcBef>
              <a:buClr>
                <a:schemeClr val="accent1"/>
              </a:buClr>
              <a:buChar char="-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01688">
              <a:spcBef>
                <a:spcPct val="4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01688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de-DE" altLang="en-US" sz="2400" b="1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TextBox 4">
            <a:extLst>
              <a:ext uri="{FF2B5EF4-FFF2-40B4-BE49-F238E27FC236}">
                <a16:creationId xmlns:a16="http://schemas.microsoft.com/office/drawing/2014/main" id="{BEEB182E-1862-D4D9-5B59-92B718CA3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09600"/>
            <a:ext cx="8001000" cy="526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IN" altLang="en-US" sz="1400"/>
              <a:t>class MyThread  extends   Thread</a:t>
            </a:r>
          </a:p>
          <a:p>
            <a:r>
              <a:rPr lang="en-IN" altLang="en-US" sz="1400"/>
              <a:t>{</a:t>
            </a:r>
          </a:p>
          <a:p>
            <a:r>
              <a:rPr lang="en-IN" altLang="en-US" sz="1400"/>
              <a:t>	String name;</a:t>
            </a:r>
          </a:p>
          <a:p>
            <a:r>
              <a:rPr lang="en-IN" altLang="en-US" sz="1400"/>
              <a:t>	MyThread(String s)</a:t>
            </a:r>
          </a:p>
          <a:p>
            <a:r>
              <a:rPr lang="en-IN" altLang="en-US" sz="1400"/>
              <a:t>	{      this.name = s;    }</a:t>
            </a:r>
          </a:p>
          <a:p>
            <a:r>
              <a:rPr lang="en-IN" altLang="en-US" sz="1400"/>
              <a:t>	public   void   run()</a:t>
            </a:r>
          </a:p>
          <a:p>
            <a:r>
              <a:rPr lang="en-IN" altLang="en-US" sz="1400"/>
              <a:t>  	{</a:t>
            </a:r>
          </a:p>
          <a:p>
            <a:r>
              <a:rPr lang="en-IN" altLang="en-US" sz="1400"/>
              <a:t>		for(int   i=1;i&lt;=500;i++)</a:t>
            </a:r>
          </a:p>
          <a:p>
            <a:r>
              <a:rPr lang="en-IN" altLang="en-US" sz="1400"/>
              <a:t>    	   System.out.println("Thread "+name);</a:t>
            </a:r>
          </a:p>
          <a:p>
            <a:r>
              <a:rPr lang="en-IN" altLang="en-US" sz="1400"/>
              <a:t>    	System.out.println("End of Thread "+name);</a:t>
            </a:r>
          </a:p>
          <a:p>
            <a:r>
              <a:rPr lang="en-IN" altLang="en-US" sz="1400"/>
              <a:t>  	}</a:t>
            </a:r>
          </a:p>
          <a:p>
            <a:r>
              <a:rPr lang="en-IN" altLang="en-US" sz="1400"/>
              <a:t>}</a:t>
            </a:r>
          </a:p>
          <a:p>
            <a:r>
              <a:rPr lang="en-IN" altLang="en-US" sz="1400"/>
              <a:t>class  ThreadPrg</a:t>
            </a:r>
          </a:p>
          <a:p>
            <a:r>
              <a:rPr lang="en-IN" altLang="en-US" sz="1400"/>
              <a:t> {      public  static  void  main(String  args[]) {</a:t>
            </a:r>
          </a:p>
          <a:p>
            <a:r>
              <a:rPr lang="en-IN" altLang="en-US" sz="1400"/>
              <a:t>                     MyThread   t1 = new  MyThread("First Thread");</a:t>
            </a:r>
          </a:p>
          <a:p>
            <a:r>
              <a:rPr lang="en-IN" altLang="en-US" sz="1400"/>
              <a:t>	 MyThread   t2 = new  MyThread("Second Thread");</a:t>
            </a:r>
          </a:p>
          <a:p>
            <a:r>
              <a:rPr lang="en-IN" altLang="en-US" sz="1400"/>
              <a:t>	 MyThread   t3 = new  MyThread("Third Thread");</a:t>
            </a:r>
          </a:p>
          <a:p>
            <a:endParaRPr lang="en-IN" altLang="en-US" sz="1400"/>
          </a:p>
          <a:p>
            <a:r>
              <a:rPr lang="en-IN" altLang="en-US" sz="1400"/>
              <a:t>             t1.setPriority(Thread.MAX_PRIORITY);</a:t>
            </a:r>
          </a:p>
          <a:p>
            <a:r>
              <a:rPr lang="en-IN" altLang="en-US" sz="1400"/>
              <a:t>             t2.setPriority(t2.getPriority()+1);</a:t>
            </a:r>
          </a:p>
          <a:p>
            <a:r>
              <a:rPr lang="en-IN" altLang="en-US" sz="1400"/>
              <a:t>             t3.setPriority(Thread.MIN_PRIORITY);</a:t>
            </a:r>
          </a:p>
          <a:p>
            <a:r>
              <a:rPr lang="en-IN" altLang="en-US" sz="1400"/>
              <a:t>             t1.start();</a:t>
            </a:r>
          </a:p>
          <a:p>
            <a:r>
              <a:rPr lang="en-IN" altLang="en-US" sz="1400"/>
              <a:t>             t2.start();</a:t>
            </a:r>
          </a:p>
          <a:p>
            <a:r>
              <a:rPr lang="en-IN" altLang="en-US" sz="1400"/>
              <a:t>             t3.start();   }}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F7E4FCB1512840BAD4581AEB2993C3" ma:contentTypeVersion="3" ma:contentTypeDescription="Create a new document." ma:contentTypeScope="" ma:versionID="324425fce7a942132883d4f789ce0353">
  <xsd:schema xmlns:xsd="http://www.w3.org/2001/XMLSchema" xmlns:xs="http://www.w3.org/2001/XMLSchema" xmlns:p="http://schemas.microsoft.com/office/2006/metadata/properties" xmlns:ns2="e8abe1e0-1045-4bfa-861e-7a9dbaef2821" targetNamespace="http://schemas.microsoft.com/office/2006/metadata/properties" ma:root="true" ma:fieldsID="38e4dca0b9b8fb153f01297bae77524f" ns2:_="">
    <xsd:import namespace="e8abe1e0-1045-4bfa-861e-7a9dbaef282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be1e0-1045-4bfa-861e-7a9dbaef2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487A406-3931-4B82-91A4-4778175E0D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abe1e0-1045-4bfa-861e-7a9dbaef28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0949A5-DB2D-4F0D-8772-3F1041B7202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exceptionhand_2013</Template>
  <TotalTime>11043</TotalTime>
  <Words>3127</Words>
  <Application>Microsoft Office PowerPoint</Application>
  <PresentationFormat>On-screen Show (4:3)</PresentationFormat>
  <Paragraphs>512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Standarddesign</vt:lpstr>
      <vt:lpstr>WEEK3- MULTITHREADED PROGRAMMING</vt:lpstr>
      <vt:lpstr>Multithreaded Programming</vt:lpstr>
      <vt:lpstr>PowerPoint Presentation</vt:lpstr>
      <vt:lpstr>PowerPoint Presentation</vt:lpstr>
      <vt:lpstr>Multithreaded program</vt:lpstr>
      <vt:lpstr>The Thread class and the Runnable Interface</vt:lpstr>
      <vt:lpstr>The Main Thread</vt:lpstr>
      <vt:lpstr>PowerPoint Presentation</vt:lpstr>
      <vt:lpstr>Example</vt:lpstr>
      <vt:lpstr>PowerPoint Presentation</vt:lpstr>
      <vt:lpstr>PowerPoint Presentation</vt:lpstr>
      <vt:lpstr>PowerPoint Presentation</vt:lpstr>
      <vt:lpstr>Life cycle of a thread</vt:lpstr>
      <vt:lpstr>Creating a Thread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Extending Thread</vt:lpstr>
      <vt:lpstr>PowerPoint Presentation</vt:lpstr>
      <vt:lpstr>PowerPoint Presentation</vt:lpstr>
      <vt:lpstr>Creating multiple threads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`</vt:lpstr>
      <vt:lpstr>Thread priorities</vt:lpstr>
      <vt:lpstr>PowerPoint Presentation</vt:lpstr>
    </vt:vector>
  </TitlesOfParts>
  <Company>Virginia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Swing</dc:title>
  <dc:subject>cs3724</dc:subject>
  <dc:creator>Chris North</dc:creator>
  <cp:lastModifiedBy>Manoj R [MAHE-MIT]</cp:lastModifiedBy>
  <cp:revision>1437</cp:revision>
  <dcterms:created xsi:type="dcterms:W3CDTF">1601-01-01T00:00:00Z</dcterms:created>
  <dcterms:modified xsi:type="dcterms:W3CDTF">2026-01-23T03:03:28Z</dcterms:modified>
</cp:coreProperties>
</file>